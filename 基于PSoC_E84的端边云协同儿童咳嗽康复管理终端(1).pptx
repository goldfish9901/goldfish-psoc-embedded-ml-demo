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embeddedFontLst>
    <p:embeddedFont>
      <p:font typeface="FZYaYiHei GB18030L2 R" panose="02010600030101010101" charset="-122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本系统(INT8)</c:v>
                </c:pt>
              </c:strCache>
            </c:strRef>
          </c:tx>
          <c:spPr>
            <a:solidFill>
              <a:srgbClr val="5B8CB8">
                <a:alpha val="100000"/>
              </a:srgbClr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61F7-4614-AB29-5F4DE53FC07C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61F7-4614-AB29-5F4DE53FC07C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61F7-4614-AB29-5F4DE53FC07C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61F7-4614-AB29-5F4DE53FC07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vert="horz" wrap="none" lIns="0" tIns="0" rIns="0" bIns="0" anchor="t" anchorCtr="0"/>
              <a:lstStyle/>
              <a:p>
                <a:pPr algn="l">
                  <a:defRPr sz="800" b="0" i="0" strike="noStrike">
                    <a:ln/>
                    <a:solidFill>
                      <a:srgbClr val="5B8CB8">
                        <a:alpha val="100000"/>
                      </a:srgbClr>
                    </a:solidFill>
                    <a:latin typeface="Inter, sans-serif"/>
                    <a:ea typeface="Inter, sans-serif"/>
                    <a:cs typeface="Inter, sans-serif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准确率</c:v>
                </c:pt>
                <c:pt idx="1">
                  <c:v>F1-Score</c:v>
                </c:pt>
                <c:pt idx="2">
                  <c:v>推理延迟</c:v>
                </c:pt>
                <c:pt idx="3">
                  <c:v>模型体积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94</c:v>
                </c:pt>
                <c:pt idx="2">
                  <c:v>50</c:v>
                </c:pt>
                <c:pt idx="3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1F7-4614-AB29-5F4DE53FC0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10"/>
        <c:axId val="1"/>
        <c:axId val="1001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A6A6A6">
                <a:alpha val="100000"/>
              </a:srgbClr>
            </a:solidFill>
          </a:ln>
        </c:spPr>
        <c:txPr>
          <a:bodyPr rot="0" vert="horz" wrap="none" lIns="0" tIns="0" rIns="0" bIns="0" anchor="t" anchorCtr="0"/>
          <a:lstStyle/>
          <a:p>
            <a:pPr algn="l">
              <a:defRPr sz="800" b="0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, sans-serif"/>
                <a:ea typeface="FZYaYiHei GB18030L2 R, sans-serif"/>
                <a:cs typeface="FZYaYiHei GB18030L2 R, sans-serif"/>
              </a:defRPr>
            </a:pPr>
            <a:endParaRPr lang="zh-CN"/>
          </a:p>
        </c:txPr>
        <c:crossAx val="1001"/>
        <c:crosses val="autoZero"/>
        <c:auto val="1"/>
        <c:lblAlgn val="ctr"/>
        <c:lblOffset val="100"/>
        <c:noMultiLvlLbl val="0"/>
      </c:catAx>
      <c:valAx>
        <c:axId val="1001"/>
        <c:scaling>
          <c:orientation val="minMax"/>
        </c:scaling>
        <c:delete val="0"/>
        <c:axPos val="l"/>
        <c:majorGridlines>
          <c:spPr>
            <a:ln w="12700">
              <a:solidFill>
                <a:srgbClr val="E8EBEF">
                  <a:alpha val="100000"/>
                </a:srgb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0" vert="horz" wrap="none" lIns="0" tIns="0" rIns="0" bIns="0" anchor="t" anchorCtr="0"/>
          <a:lstStyle/>
          <a:p>
            <a:pPr algn="l">
              <a:defRPr sz="700" b="0" i="0" strike="noStrike">
                <a:ln/>
                <a:solidFill>
                  <a:srgbClr val="0A1F3D">
                    <a:alpha val="100000"/>
                  </a:srgbClr>
                </a:solidFill>
                <a:latin typeface="Inter, sans-serif"/>
                <a:ea typeface="Inter, sans-serif"/>
                <a:cs typeface="Inter, sans-serif"/>
              </a:defRPr>
            </a:pPr>
            <a:endParaRPr lang="zh-CN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实测值</c:v>
                </c:pt>
              </c:strCache>
            </c:strRef>
          </c:tx>
          <c:spPr>
            <a:solidFill>
              <a:srgbClr val="5B8CB8">
                <a:alpha val="100000"/>
              </a:srgbClr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BE5-4E68-B0BE-A1F93DF8857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BE5-4E68-B0BE-A1F93DF8857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EBE5-4E68-B0BE-A1F93DF8857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EBE5-4E68-B0BE-A1F93DF885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vert="horz" wrap="none" lIns="0" tIns="0" rIns="0" bIns="0" anchor="t" anchorCtr="0"/>
              <a:lstStyle/>
              <a:p>
                <a:pPr algn="l">
                  <a:defRPr sz="700" b="0" i="0" strike="noStrike">
                    <a:ln/>
                    <a:solidFill>
                      <a:srgbClr val="5B8CB8">
                        <a:alpha val="100000"/>
                      </a:srgbClr>
                    </a:solidFill>
                    <a:latin typeface="Inter, sans-serif"/>
                    <a:ea typeface="Inter, sans-serif"/>
                    <a:cs typeface="Inter, sans-serif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检测准确率(%)</c:v>
                </c:pt>
                <c:pt idx="1">
                  <c:v>推理延迟(ms)</c:v>
                </c:pt>
                <c:pt idx="2">
                  <c:v>工作电流(mA)</c:v>
                </c:pt>
                <c:pt idx="3">
                  <c:v>上传周期(min)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100</c:v>
                </c:pt>
                <c:pt idx="2">
                  <c:v>100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E5-4E68-B0BE-A1F93DF885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设计目标</c:v>
                </c:pt>
              </c:strCache>
            </c:strRef>
          </c:tx>
          <c:spPr>
            <a:solidFill>
              <a:srgbClr val="8BA4BE">
                <a:alpha val="100000"/>
              </a:srgbClr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A-EBE5-4E68-B0BE-A1F93DF8857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C-EBE5-4E68-B0BE-A1F93DF8857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E-EBE5-4E68-B0BE-A1F93DF8857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0-EBE5-4E68-B0BE-A1F93DF885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vert="horz" wrap="none" lIns="0" tIns="0" rIns="0" bIns="0" anchor="t" anchorCtr="0"/>
              <a:lstStyle/>
              <a:p>
                <a:pPr algn="l">
                  <a:defRPr sz="700" b="0" i="0" strike="noStrike">
                    <a:ln/>
                    <a:solidFill>
                      <a:srgbClr val="8BA4BE">
                        <a:alpha val="100000"/>
                      </a:srgbClr>
                    </a:solidFill>
                    <a:latin typeface="Inter, sans-serif"/>
                    <a:ea typeface="Inter, sans-serif"/>
                    <a:cs typeface="Inter, sans-serif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检测准确率(%)</c:v>
                </c:pt>
                <c:pt idx="1">
                  <c:v>推理延迟(ms)</c:v>
                </c:pt>
                <c:pt idx="2">
                  <c:v>工作电流(mA)</c:v>
                </c:pt>
                <c:pt idx="3">
                  <c:v>上传周期(min)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150</c:v>
                </c:pt>
                <c:pt idx="2">
                  <c:v>150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BE5-4E68-B0BE-A1F93DF885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10"/>
        <c:axId val="1"/>
        <c:axId val="1001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A6A6A6">
                <a:alpha val="100000"/>
              </a:srgbClr>
            </a:solidFill>
          </a:ln>
        </c:spPr>
        <c:txPr>
          <a:bodyPr rot="0" vert="horz" wrap="none" lIns="0" tIns="0" rIns="0" bIns="0" anchor="t" anchorCtr="0"/>
          <a:lstStyle/>
          <a:p>
            <a:pPr algn="l">
              <a:defRPr sz="700" b="0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, sans-serif"/>
                <a:ea typeface="FZYaYiHei GB18030L2 R, sans-serif"/>
                <a:cs typeface="FZYaYiHei GB18030L2 R, sans-serif"/>
              </a:defRPr>
            </a:pPr>
            <a:endParaRPr lang="zh-CN"/>
          </a:p>
        </c:txPr>
        <c:crossAx val="1001"/>
        <c:crosses val="autoZero"/>
        <c:auto val="1"/>
        <c:lblAlgn val="ctr"/>
        <c:lblOffset val="100"/>
        <c:noMultiLvlLbl val="0"/>
      </c:catAx>
      <c:valAx>
        <c:axId val="1001"/>
        <c:scaling>
          <c:orientation val="minMax"/>
        </c:scaling>
        <c:delete val="0"/>
        <c:axPos val="l"/>
        <c:majorGridlines>
          <c:spPr>
            <a:ln w="12700">
              <a:solidFill>
                <a:srgbClr val="E8EBEF">
                  <a:alpha val="100000"/>
                </a:srgb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0" vert="horz" wrap="none" lIns="0" tIns="0" rIns="0" bIns="0" anchor="t" anchorCtr="0"/>
          <a:lstStyle/>
          <a:p>
            <a:pPr algn="l">
              <a:defRPr sz="700" b="0" i="0" strike="noStrike">
                <a:ln/>
                <a:solidFill>
                  <a:srgbClr val="0A1F3D">
                    <a:alpha val="100000"/>
                  </a:srgbClr>
                </a:solidFill>
                <a:latin typeface="Inter, sans-serif"/>
                <a:ea typeface="Inter, sans-serif"/>
                <a:cs typeface="Inter, sans-serif"/>
              </a:defRPr>
            </a:pPr>
            <a:endParaRPr lang="zh-CN"/>
          </a:p>
        </c:txPr>
        <c:crossAx val="1"/>
        <c:crosses val="autoZero"/>
        <c:crossBetween val="between"/>
      </c:valAx>
    </c:plotArea>
    <c:legend>
      <c:legendPos val="b"/>
      <c:overlay val="0"/>
      <c:txPr>
        <a:bodyPr rot="0" vert="horz" wrap="none" lIns="0" tIns="0" rIns="0" bIns="0" anchor="t" anchorCtr="0"/>
        <a:lstStyle/>
        <a:p>
          <a:pPr algn="l">
            <a:defRPr sz="800" b="0" i="0" strike="noStrike">
              <a:ln/>
              <a:solidFill>
                <a:srgbClr val="0A1F3D">
                  <a:alpha val="100000"/>
                </a:srgbClr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大家</a:t>
            </a:r>
            <a:r>
              <a:rPr lang="en-US" dirty="0" err="1"/>
              <a:t>好，今天我们将介绍一个基于PSoC</a:t>
            </a:r>
            <a:r>
              <a:rPr lang="en-US" dirty="0"/>
              <a:t> Edge E84的端边云协同儿童咳嗽康复管理系统。这个项目融合了边缘AI、物联网和云端数据分析技术，旨在为儿童呼吸道疾病康复提供智能化监测方案。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本项目针对儿童呼吸道疾病康复期的家庭监测需求。很多家长在孩子生病后康复阶段，特别担心夜间咳嗽情况，但缺乏客观记录手段。我们的系统通过嵌入式AI在本地实时检测咳嗽，结合云端数据分析，为家长提供可视化健康趋势报告，帮助及时发现异常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系统功能可以分为三个层面。在终端侧，我们实现了基于AI的实时咳嗽检测、3秒预触发录音、24小时统计分析，以及温湿度环境监测。在云端，提供设备管理、儿童档案、趋势报表和AI智能分析服务。在交互层面，支持触屏UI、语音助手和手势控制三种交互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本项目的创新点主要体现在四个方面。首先是端侧机器学习部署，我们将INT8量化模型运行在资源受限的嵌入式设备上，无需依赖云端实时推理，保护了用户隐私。第二是多模态交互设计，结合按键、触屏、手势三种方式，并集成语音助手降低使用门槛。第三是离线可用设计，设备端本地存储数据，网络恢复后自动同步。第四是环境联动分析，将咳嗽数据与温湿度关联，探索环境因素与健康状态的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zh-CN" dirty="0"/>
              <a:t>接下来介绍我们的硬件平台——</a:t>
            </a:r>
            <a:r>
              <a:rPr lang="zh-CN" altLang="zh-CN" b="1" dirty="0"/>
              <a:t>Edgi-Talk开发板</a:t>
            </a:r>
            <a:r>
              <a:rPr lang="zh-CN" altLang="zh-CN" dirty="0"/>
              <a:t>。核心是</a:t>
            </a:r>
            <a:r>
              <a:rPr lang="zh-CN" altLang="zh-CN" b="1" dirty="0"/>
              <a:t>Infineon PSoC Edge E84</a:t>
            </a:r>
            <a:r>
              <a:rPr lang="zh-CN" altLang="zh-CN" dirty="0"/>
              <a:t>双核MCU，它集成了Ethos-U55 NPU，算力强大。外设方面，我们配置了PDM麦克风采集音频，AHT20传感器监测温湿度，LSM6DS3六轴传感器用于手势识别，以及一块4.3寸的电容触摸屏。整个硬件集成度非常高，单USB供电即可运行，完美满足端侧AI推理的需求。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软件系统分为嵌入式端和云端两部分。嵌入式端运行RT-Thread</a:t>
            </a:r>
            <a:r>
              <a:rPr lang="en-US" dirty="0"/>
              <a:t> 5.0.2实时操作系统，这是一个国产开源RTOS，支持多线程调度和丰富的中间件。我们使用LVGL图形库开发UI，TFLite </a:t>
            </a:r>
            <a:r>
              <a:rPr lang="en-US" dirty="0" err="1"/>
              <a:t>Micro部署AI模型。云端采用FastAPI异步框架，配合SQLite数据库和Vue.js前端，实现快速开发和部署</a:t>
            </a:r>
            <a:r>
              <a:rPr lang="en-US" dirty="0"/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这是系统的软件架构图。双核架构中，CM55运行在400MHz主频，负责所有业务逻辑：包括音频采集、AI推理、UI显示和云端通信。CM33则不运行操作系统，只负责系统启动、电源管理和低功耗控制。数据从PDM麦克风进入，经过FFT特征提取，由TFLite </a:t>
            </a:r>
            <a:r>
              <a:rPr lang="en-US" dirty="0" err="1"/>
              <a:t>Micro模型推理，检测结果通过WiFi上传至云端</a:t>
            </a:r>
            <a:r>
              <a:rPr lang="en-US" dirty="0"/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zh-CN" dirty="0"/>
              <a:t>咳嗽检测是项目核心。模型采用混合数据集（自采+COUGHVID），提取Log-Power-Spectrum特征，训练轻量级CNN网络，INT8量化后模型仅175KB，准确率超90%。软件采用“持续推理+单阈值判定”策略，三个线程并行，置信度超0.35即触发录音，自动保存咳嗽前后音频到SD卡，统计引擎实时计算24小时分布和爆发次数。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在软件实现上，我们采用了三线程架构。麦克风线程每10毫秒采集一帧数据写入环形缓冲区；推理线程从缓冲区累积65帧后进行FFT特征提取和模型推理；控制线程负责处理检测结果，触发录音和统计。这里的关键创新是单阈值持续推理策略，我们不使用传统的能量门限触发，而是让模型持续运行，这样可以避免错过跨窗口边界的低强度咳嗽事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端云协同通过WiFi</a:t>
            </a:r>
            <a:r>
              <a:rPr lang="en-US" dirty="0"/>
              <a:t> 6模块实现。设备支持AP模式配网，用户通过手机浏览器连接设备热点即可完成WiFi配置。通信采用HTTPS over TLS 1.2加密，使用mbedTLS库和CA根证书验证服务器身份。数据上传采用双通道设计：兼容通道POST /</a:t>
            </a:r>
            <a:r>
              <a:rPr lang="en-US" dirty="0" err="1"/>
              <a:t>api</a:t>
            </a:r>
            <a:r>
              <a:rPr lang="en-US" dirty="0"/>
              <a:t>/cough/</a:t>
            </a:r>
            <a:r>
              <a:rPr lang="en-US" dirty="0" err="1"/>
              <a:t>stats接收每日统计摘要，标准通道POST</a:t>
            </a:r>
            <a:r>
              <a:rPr lang="en-US" dirty="0"/>
              <a:t> /</a:t>
            </a:r>
            <a:r>
              <a:rPr lang="en-US" dirty="0" err="1"/>
              <a:t>api</a:t>
            </a:r>
            <a:r>
              <a:rPr lang="en-US" dirty="0"/>
              <a:t>/v1/device-</a:t>
            </a:r>
            <a:r>
              <a:rPr lang="en-US" dirty="0" err="1"/>
              <a:t>api</a:t>
            </a:r>
            <a:r>
              <a:rPr lang="en-US" dirty="0"/>
              <a:t>/cough-events/batch接收逐事件明细，每次最多打包16条事件。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云端后端基于FastAPI框架构建，采用异步编程模型处理高并发请求。我们设计了8个核心API端点，包括设备认证、数据上传、报告生成等。前端使用Vue.js 3和Element </a:t>
            </a:r>
            <a:r>
              <a:rPr lang="en-US" dirty="0" err="1"/>
              <a:t>Plus组件库，配合ECharts图表库实现数据可视化</a:t>
            </a:r>
            <a:r>
              <a:rPr lang="en-US"/>
              <a:t>。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系统经过完整的功能测试、性能测试和稳定性测试。关键性能指标如下：咳嗽检测准确率≥90%，</a:t>
            </a:r>
            <a:r>
              <a:rPr lang="en-US" dirty="0" err="1"/>
              <a:t>推理延迟</a:t>
            </a:r>
            <a:r>
              <a:rPr lang="en-US" dirty="0"/>
              <a:t>&lt;100毫秒，从咳嗽发生到完成检测并触发录音的总延迟控制在合理范围内。网络上传周期为10分钟，平衡了实时性与功耗。设备在监听模式下工作电流&lt;100mA，待机模式下&lt;10mA，满足长时间运行的需求。系统已通过72小时连续运行稳定性测试。</a:t>
            </a:r>
            <a:r>
              <a:rPr lang="zh-CN" altLang="en-US" dirty="0"/>
              <a:t>接下来是项目演示环节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D">
              <a:alpha val="45098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134382" y="2698552"/>
            <a:ext cx="9920188" cy="14019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4800" b="1" i="0" strike="noStrike" dirty="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基于PSoC_E84的端边云协同</a:t>
            </a:r>
            <a:endParaRPr lang="en-US" sz="1100" dirty="0"/>
          </a:p>
          <a:p>
            <a:pPr algn="ctr"/>
            <a:r>
              <a:rPr sz="4800" b="1" i="0" strike="noStrike" dirty="0" err="1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儿童咳嗽康复管理终端</a:t>
            </a:r>
            <a:endParaRPr dirty="0"/>
          </a:p>
        </p:txBody>
      </p:sp>
      <p:sp>
        <p:nvSpPr>
          <p:cNvPr id="6" name="TextBox 6"/>
          <p:cNvSpPr txBox="1"/>
          <p:nvPr/>
        </p:nvSpPr>
        <p:spPr>
          <a:xfrm>
            <a:off x="2113798" y="4329112"/>
            <a:ext cx="7961356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600" b="0" i="0" strike="noStrike" dirty="0" err="1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边缘AI驱动</a:t>
            </a:r>
            <a:r>
              <a:rPr lang="en-US" sz="1600" b="0" i="0" strike="noStrike" dirty="0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· </a:t>
            </a:r>
            <a:r>
              <a:rPr lang="en-US" sz="1600" b="0" i="0" strike="noStrike" dirty="0" err="1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端云协同</a:t>
            </a:r>
            <a:r>
              <a:rPr lang="en-US" sz="1600" b="0" i="0" strike="noStrike" dirty="0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· </a:t>
            </a:r>
            <a:r>
              <a:rPr lang="en-US" sz="1600" b="0" i="0" strike="noStrike" dirty="0" err="1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智能健康监测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Project Overview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8001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项目简介与应用背景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466850"/>
            <a:ext cx="11274781" cy="931366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57086" y="1466850"/>
            <a:ext cx="9522" cy="931366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714196" y="1695450"/>
            <a:ext cx="11474756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儿童呼吸道疾病康复期（0-12岁）家庭监测存在明显痛点：家长主观观察难以量化咳嗽频率变化，夜间睡眠时段更无法持续记录。本系统通过端侧AI实</a:t>
            </a:r>
            <a:endParaRPr lang="en-US" sz="1100" dirty="0"/>
          </a:p>
          <a:p>
            <a:pPr algn="l"/>
            <a:r>
              <a:rPr sz="12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时感知、云端智能分析的协同架构，将传统主观护理升级为数据驱动的精准健康管理</a:t>
            </a:r>
            <a:r>
              <a:rPr sz="12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8" name="AutoShape 8"/>
          <p:cNvSpPr/>
          <p:nvPr/>
        </p:nvSpPr>
        <p:spPr>
          <a:xfrm>
            <a:off x="457086" y="3665191"/>
            <a:ext cx="11274781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35958" y="3274666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635" y="4908"/>
                </a:moveTo>
                <a:lnTo>
                  <a:pt x="8635" y="9491"/>
                </a:lnTo>
                <a:cubicBezTo>
                  <a:pt x="8635" y="9633"/>
                  <a:pt x="8591" y="9754"/>
                  <a:pt x="8503" y="9852"/>
                </a:cubicBezTo>
                <a:cubicBezTo>
                  <a:pt x="8415" y="9950"/>
                  <a:pt x="8307" y="10000"/>
                  <a:pt x="8180" y="10000"/>
                </a:cubicBezTo>
                <a:lnTo>
                  <a:pt x="1818" y="10000"/>
                </a:lnTo>
                <a:cubicBezTo>
                  <a:pt x="1690" y="10000"/>
                  <a:pt x="1583" y="9950"/>
                  <a:pt x="1495" y="9852"/>
                </a:cubicBezTo>
                <a:cubicBezTo>
                  <a:pt x="1407" y="9754"/>
                  <a:pt x="1363" y="9633"/>
                  <a:pt x="1363" y="9491"/>
                </a:cubicBezTo>
                <a:lnTo>
                  <a:pt x="1363" y="4908"/>
                </a:lnTo>
                <a:lnTo>
                  <a:pt x="0" y="4908"/>
                </a:lnTo>
                <a:lnTo>
                  <a:pt x="4690" y="132"/>
                </a:lnTo>
                <a:cubicBezTo>
                  <a:pt x="4780" y="44"/>
                  <a:pt x="4883" y="0"/>
                  <a:pt x="4999" y="0"/>
                </a:cubicBezTo>
                <a:cubicBezTo>
                  <a:pt x="5114" y="0"/>
                  <a:pt x="5217" y="44"/>
                  <a:pt x="5308" y="132"/>
                </a:cubicBezTo>
                <a:lnTo>
                  <a:pt x="9998" y="4908"/>
                </a:lnTo>
                <a:lnTo>
                  <a:pt x="8635" y="4908"/>
                </a:lnTo>
                <a:moveTo>
                  <a:pt x="2272" y="8982"/>
                </a:moveTo>
                <a:lnTo>
                  <a:pt x="7726" y="8982"/>
                </a:lnTo>
                <a:lnTo>
                  <a:pt x="7726" y="3971"/>
                </a:lnTo>
                <a:lnTo>
                  <a:pt x="4999" y="1191"/>
                </a:lnTo>
                <a:lnTo>
                  <a:pt x="2272" y="3971"/>
                </a:lnTo>
                <a:lnTo>
                  <a:pt x="2272" y="8982"/>
                </a:lnTo>
                <a:moveTo>
                  <a:pt x="6526" y="6253"/>
                </a:moveTo>
                <a:lnTo>
                  <a:pt x="4999" y="7963"/>
                </a:lnTo>
                <a:lnTo>
                  <a:pt x="3472" y="6253"/>
                </a:lnTo>
                <a:cubicBezTo>
                  <a:pt x="3338" y="6110"/>
                  <a:pt x="3249" y="5940"/>
                  <a:pt x="3204" y="5743"/>
                </a:cubicBezTo>
                <a:cubicBezTo>
                  <a:pt x="3158" y="5546"/>
                  <a:pt x="3158" y="5349"/>
                  <a:pt x="3204" y="5153"/>
                </a:cubicBezTo>
                <a:cubicBezTo>
                  <a:pt x="3249" y="4955"/>
                  <a:pt x="3338" y="4784"/>
                  <a:pt x="3472" y="4638"/>
                </a:cubicBezTo>
                <a:cubicBezTo>
                  <a:pt x="3605" y="4492"/>
                  <a:pt x="3760" y="4392"/>
                  <a:pt x="3936" y="4338"/>
                </a:cubicBezTo>
                <a:cubicBezTo>
                  <a:pt x="4111" y="4284"/>
                  <a:pt x="4287" y="4284"/>
                  <a:pt x="4463" y="4338"/>
                </a:cubicBezTo>
                <a:cubicBezTo>
                  <a:pt x="4638" y="4392"/>
                  <a:pt x="4789" y="4491"/>
                  <a:pt x="4917" y="4633"/>
                </a:cubicBezTo>
                <a:lnTo>
                  <a:pt x="4999" y="4725"/>
                </a:lnTo>
                <a:lnTo>
                  <a:pt x="5081" y="4633"/>
                </a:lnTo>
                <a:cubicBezTo>
                  <a:pt x="5208" y="4491"/>
                  <a:pt x="5359" y="4392"/>
                  <a:pt x="5535" y="4338"/>
                </a:cubicBezTo>
                <a:cubicBezTo>
                  <a:pt x="5711" y="4284"/>
                  <a:pt x="5886" y="4284"/>
                  <a:pt x="6062" y="4338"/>
                </a:cubicBezTo>
                <a:cubicBezTo>
                  <a:pt x="6238" y="4392"/>
                  <a:pt x="6392" y="4492"/>
                  <a:pt x="6526" y="4638"/>
                </a:cubicBezTo>
                <a:cubicBezTo>
                  <a:pt x="6659" y="4784"/>
                  <a:pt x="6748" y="4955"/>
                  <a:pt x="6794" y="5153"/>
                </a:cubicBezTo>
                <a:cubicBezTo>
                  <a:pt x="6839" y="5349"/>
                  <a:pt x="6839" y="5546"/>
                  <a:pt x="6794" y="5743"/>
                </a:cubicBezTo>
                <a:cubicBezTo>
                  <a:pt x="6748" y="5940"/>
                  <a:pt x="6659" y="6110"/>
                  <a:pt x="6526" y="625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757644" y="3255616"/>
            <a:ext cx="109742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应用场景聚焦居家康复期跟踪：</a:t>
            </a:r>
            <a:r>
              <a:rPr sz="12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覆盖感冒、哮喘、支气管炎等常见儿童呼吸道疾病的康复阶段，特别针对夜间咳嗽频率监测这一家长最关注的痛点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086" y="4474816"/>
            <a:ext cx="11274781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435958" y="4084291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700" y="6915"/>
                </a:moveTo>
                <a:lnTo>
                  <a:pt x="7800" y="7000"/>
                </a:lnTo>
                <a:lnTo>
                  <a:pt x="7900" y="6915"/>
                </a:lnTo>
                <a:cubicBezTo>
                  <a:pt x="8056" y="6777"/>
                  <a:pt x="8241" y="6684"/>
                  <a:pt x="8457" y="6637"/>
                </a:cubicBezTo>
                <a:cubicBezTo>
                  <a:pt x="8672" y="6589"/>
                  <a:pt x="8887" y="6589"/>
                  <a:pt x="9102" y="6637"/>
                </a:cubicBezTo>
                <a:cubicBezTo>
                  <a:pt x="9317" y="6684"/>
                  <a:pt x="9506" y="6777"/>
                  <a:pt x="9670" y="6915"/>
                </a:cubicBezTo>
                <a:cubicBezTo>
                  <a:pt x="9833" y="7053"/>
                  <a:pt x="9942" y="7214"/>
                  <a:pt x="9998" y="7396"/>
                </a:cubicBezTo>
                <a:cubicBezTo>
                  <a:pt x="10053" y="7578"/>
                  <a:pt x="10053" y="7759"/>
                  <a:pt x="9998" y="7939"/>
                </a:cubicBezTo>
                <a:cubicBezTo>
                  <a:pt x="9942" y="8118"/>
                  <a:pt x="9833" y="8277"/>
                  <a:pt x="9670" y="8415"/>
                </a:cubicBezTo>
                <a:lnTo>
                  <a:pt x="7800" y="10000"/>
                </a:lnTo>
                <a:lnTo>
                  <a:pt x="5931" y="8415"/>
                </a:lnTo>
                <a:cubicBezTo>
                  <a:pt x="5767" y="8277"/>
                  <a:pt x="5658" y="8118"/>
                  <a:pt x="5603" y="7939"/>
                </a:cubicBezTo>
                <a:cubicBezTo>
                  <a:pt x="5547" y="7759"/>
                  <a:pt x="5547" y="7578"/>
                  <a:pt x="5603" y="7396"/>
                </a:cubicBezTo>
                <a:cubicBezTo>
                  <a:pt x="5658" y="7214"/>
                  <a:pt x="5767" y="7053"/>
                  <a:pt x="5931" y="6915"/>
                </a:cubicBezTo>
                <a:cubicBezTo>
                  <a:pt x="6094" y="6777"/>
                  <a:pt x="6283" y="6684"/>
                  <a:pt x="6498" y="6637"/>
                </a:cubicBezTo>
                <a:cubicBezTo>
                  <a:pt x="6713" y="6589"/>
                  <a:pt x="6928" y="6589"/>
                  <a:pt x="7144" y="6637"/>
                </a:cubicBezTo>
                <a:cubicBezTo>
                  <a:pt x="7359" y="6684"/>
                  <a:pt x="7544" y="6777"/>
                  <a:pt x="7700" y="6915"/>
                </a:cubicBezTo>
                <a:moveTo>
                  <a:pt x="4317" y="6132"/>
                </a:moveTo>
                <a:lnTo>
                  <a:pt x="4451" y="6132"/>
                </a:lnTo>
                <a:lnTo>
                  <a:pt x="4451" y="7075"/>
                </a:lnTo>
                <a:cubicBezTo>
                  <a:pt x="3850" y="7075"/>
                  <a:pt x="3290" y="7204"/>
                  <a:pt x="2771" y="7462"/>
                </a:cubicBezTo>
                <a:cubicBezTo>
                  <a:pt x="2266" y="7714"/>
                  <a:pt x="1865" y="8053"/>
                  <a:pt x="1569" y="8481"/>
                </a:cubicBezTo>
                <a:cubicBezTo>
                  <a:pt x="1265" y="8921"/>
                  <a:pt x="1113" y="9396"/>
                  <a:pt x="1113" y="9906"/>
                </a:cubicBezTo>
                <a:lnTo>
                  <a:pt x="0" y="9906"/>
                </a:lnTo>
                <a:cubicBezTo>
                  <a:pt x="0" y="9232"/>
                  <a:pt x="196" y="8606"/>
                  <a:pt x="590" y="8028"/>
                </a:cubicBezTo>
                <a:cubicBezTo>
                  <a:pt x="968" y="7468"/>
                  <a:pt x="1483" y="7022"/>
                  <a:pt x="2136" y="6689"/>
                </a:cubicBezTo>
                <a:cubicBezTo>
                  <a:pt x="2804" y="6336"/>
                  <a:pt x="3531" y="6150"/>
                  <a:pt x="4317" y="6132"/>
                </a:cubicBezTo>
                <a:moveTo>
                  <a:pt x="4329" y="0"/>
                </a:moveTo>
                <a:lnTo>
                  <a:pt x="4451" y="0"/>
                </a:lnTo>
                <a:cubicBezTo>
                  <a:pt x="5059" y="0"/>
                  <a:pt x="5622" y="129"/>
                  <a:pt x="6142" y="387"/>
                </a:cubicBezTo>
                <a:cubicBezTo>
                  <a:pt x="6639" y="638"/>
                  <a:pt x="7036" y="978"/>
                  <a:pt x="7333" y="1406"/>
                </a:cubicBezTo>
                <a:cubicBezTo>
                  <a:pt x="7637" y="1840"/>
                  <a:pt x="7789" y="2311"/>
                  <a:pt x="7789" y="2821"/>
                </a:cubicBezTo>
                <a:cubicBezTo>
                  <a:pt x="7789" y="3330"/>
                  <a:pt x="7644" y="3798"/>
                  <a:pt x="7355" y="4226"/>
                </a:cubicBezTo>
                <a:cubicBezTo>
                  <a:pt x="7073" y="4647"/>
                  <a:pt x="6685" y="4987"/>
                  <a:pt x="6192" y="5245"/>
                </a:cubicBezTo>
                <a:cubicBezTo>
                  <a:pt x="5698" y="5503"/>
                  <a:pt x="5159" y="5641"/>
                  <a:pt x="4573" y="5660"/>
                </a:cubicBezTo>
                <a:lnTo>
                  <a:pt x="4451" y="5660"/>
                </a:lnTo>
                <a:cubicBezTo>
                  <a:pt x="3850" y="5660"/>
                  <a:pt x="3290" y="5531"/>
                  <a:pt x="2771" y="5274"/>
                </a:cubicBezTo>
                <a:cubicBezTo>
                  <a:pt x="2266" y="5022"/>
                  <a:pt x="1865" y="4682"/>
                  <a:pt x="1569" y="4255"/>
                </a:cubicBezTo>
                <a:cubicBezTo>
                  <a:pt x="1265" y="3821"/>
                  <a:pt x="1113" y="3349"/>
                  <a:pt x="1113" y="2840"/>
                </a:cubicBezTo>
                <a:cubicBezTo>
                  <a:pt x="1113" y="2330"/>
                  <a:pt x="1257" y="1861"/>
                  <a:pt x="1547" y="1434"/>
                </a:cubicBezTo>
                <a:cubicBezTo>
                  <a:pt x="1829" y="1012"/>
                  <a:pt x="2216" y="673"/>
                  <a:pt x="2710" y="415"/>
                </a:cubicBezTo>
                <a:cubicBezTo>
                  <a:pt x="3203" y="157"/>
                  <a:pt x="3743" y="18"/>
                  <a:pt x="4329" y="0"/>
                </a:cubicBezTo>
                <a:moveTo>
                  <a:pt x="4451" y="943"/>
                </a:moveTo>
                <a:cubicBezTo>
                  <a:pt x="4050" y="943"/>
                  <a:pt x="3679" y="1028"/>
                  <a:pt x="3338" y="1198"/>
                </a:cubicBezTo>
                <a:cubicBezTo>
                  <a:pt x="2996" y="1368"/>
                  <a:pt x="2726" y="1597"/>
                  <a:pt x="2526" y="1887"/>
                </a:cubicBezTo>
                <a:cubicBezTo>
                  <a:pt x="2325" y="2176"/>
                  <a:pt x="2225" y="2490"/>
                  <a:pt x="2225" y="2830"/>
                </a:cubicBezTo>
                <a:cubicBezTo>
                  <a:pt x="2225" y="3170"/>
                  <a:pt x="2325" y="3484"/>
                  <a:pt x="2526" y="3774"/>
                </a:cubicBezTo>
                <a:cubicBezTo>
                  <a:pt x="2726" y="4063"/>
                  <a:pt x="2996" y="4292"/>
                  <a:pt x="3338" y="4462"/>
                </a:cubicBezTo>
                <a:cubicBezTo>
                  <a:pt x="3679" y="4632"/>
                  <a:pt x="4050" y="4717"/>
                  <a:pt x="4451" y="4717"/>
                </a:cubicBezTo>
                <a:cubicBezTo>
                  <a:pt x="4851" y="4717"/>
                  <a:pt x="5222" y="4632"/>
                  <a:pt x="5564" y="4462"/>
                </a:cubicBezTo>
                <a:cubicBezTo>
                  <a:pt x="5905" y="4292"/>
                  <a:pt x="6176" y="4063"/>
                  <a:pt x="6376" y="3774"/>
                </a:cubicBezTo>
                <a:cubicBezTo>
                  <a:pt x="6576" y="3484"/>
                  <a:pt x="6676" y="3170"/>
                  <a:pt x="6676" y="2830"/>
                </a:cubicBezTo>
                <a:cubicBezTo>
                  <a:pt x="6676" y="2490"/>
                  <a:pt x="6576" y="2176"/>
                  <a:pt x="6376" y="1887"/>
                </a:cubicBezTo>
                <a:cubicBezTo>
                  <a:pt x="6176" y="1597"/>
                  <a:pt x="5905" y="1368"/>
                  <a:pt x="5564" y="1198"/>
                </a:cubicBezTo>
                <a:cubicBezTo>
                  <a:pt x="5222" y="1028"/>
                  <a:pt x="4851" y="943"/>
                  <a:pt x="4451" y="94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757644" y="4065241"/>
            <a:ext cx="109742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目标用户为0-12岁儿童家庭：</a:t>
            </a:r>
            <a:r>
              <a:rPr sz="12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尤其适合呼吸道疾病高发季节（秋冬、花粉季）的健康管理，为家长提供客观数据支撑而非替代医疗诊断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086" y="5284441"/>
            <a:ext cx="11274781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435958" y="4893916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757644" y="4874866"/>
            <a:ext cx="109742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技术路线采用端边云协同架构：</a:t>
            </a:r>
            <a:r>
              <a:rPr sz="12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终端基于Infineon PSoC Edge E84双核MCU实现本地AI推理，云端基于FastAPI+Vue.js提供数据可视化与趋势分析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9448" y="5684491"/>
            <a:ext cx="1112241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核心价值在于数据闭环：</a:t>
            </a:r>
            <a:r>
              <a:rPr sz="12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从声音采集、咳嗽识别、环境关联到云端报告生成，形成完整的健康数据链路，支持离线运行与自动同步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SYSTEM OVERVIEW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系统功能概述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34302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系统构建了从感知到决策的完整功能闭环：终端侧负责实时数据采集与本地智能推理，云端侧负责数据聚合分析与长期趋势预测，交互层提供多模态人机交互体</a:t>
            </a:r>
            <a:endParaRPr lang="en-US" sz="1100" dirty="0"/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验，三层协同形成居家健康监测的完整解决方案</a:t>
            </a:r>
            <a:r>
              <a:rPr sz="1100" b="0" i="0" strike="noStrike" dirty="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6" name="AutoShape 6"/>
          <p:cNvSpPr/>
          <p:nvPr/>
        </p:nvSpPr>
        <p:spPr>
          <a:xfrm>
            <a:off x="457086" y="2000250"/>
            <a:ext cx="3631242" cy="44005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57086" y="2000250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35932" y="2266950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881437" y="2262188"/>
            <a:ext cx="89096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终端侧功能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57061" y="2676525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实时咳嗽检测：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558139" y="2676525"/>
            <a:ext cx="2305218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TFLite Micro模型本地推理，16kHz音频采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样，自动区分咳嗽与环境噪声</a:t>
            </a: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57061" y="3187005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音频录制存储：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558139" y="3187005"/>
            <a:ext cx="2233202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3秒预触发+2秒后续录制，支持延长至30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秒，WAV格式存SD卡</a:t>
            </a: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657061" y="3697486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统计分析引擎：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558139" y="3697486"/>
            <a:ext cx="2312657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24小时分布计数、昼夜区分（22:00-06:00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夜间）、爆发检测（60秒内≥5次）</a:t>
            </a: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57061" y="4207966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环境监测：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10550" y="4207966"/>
            <a:ext cx="2532272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AHT20温湿度传感器每30秒采样，关联咳嗽事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件分析环境因素影响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278780" y="2000250"/>
            <a:ext cx="3631242" cy="44005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278780" y="2000250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4457628" y="2266950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574" y="0"/>
                  <a:pt x="6110" y="168"/>
                  <a:pt x="6608" y="505"/>
                </a:cubicBezTo>
                <a:cubicBezTo>
                  <a:pt x="7086" y="827"/>
                  <a:pt x="7465" y="1266"/>
                  <a:pt x="7744" y="1821"/>
                </a:cubicBezTo>
                <a:cubicBezTo>
                  <a:pt x="8034" y="2396"/>
                  <a:pt x="8180" y="3017"/>
                  <a:pt x="8180" y="3684"/>
                </a:cubicBezTo>
                <a:lnTo>
                  <a:pt x="8180" y="3863"/>
                </a:lnTo>
                <a:cubicBezTo>
                  <a:pt x="8531" y="4003"/>
                  <a:pt x="8845" y="4221"/>
                  <a:pt x="9121" y="4516"/>
                </a:cubicBezTo>
                <a:cubicBezTo>
                  <a:pt x="9396" y="4810"/>
                  <a:pt x="9611" y="5159"/>
                  <a:pt x="9766" y="5563"/>
                </a:cubicBezTo>
                <a:cubicBezTo>
                  <a:pt x="9920" y="5966"/>
                  <a:pt x="9998" y="6392"/>
                  <a:pt x="9998" y="6842"/>
                </a:cubicBezTo>
                <a:cubicBezTo>
                  <a:pt x="9998" y="7410"/>
                  <a:pt x="9873" y="7940"/>
                  <a:pt x="9625" y="8432"/>
                </a:cubicBezTo>
                <a:cubicBezTo>
                  <a:pt x="9383" y="8908"/>
                  <a:pt x="9056" y="9287"/>
                  <a:pt x="8644" y="9568"/>
                </a:cubicBezTo>
                <a:cubicBezTo>
                  <a:pt x="8219" y="9856"/>
                  <a:pt x="7761" y="10000"/>
                  <a:pt x="7271" y="10000"/>
                </a:cubicBezTo>
                <a:lnTo>
                  <a:pt x="2727" y="10000"/>
                </a:lnTo>
                <a:cubicBezTo>
                  <a:pt x="2236" y="10000"/>
                  <a:pt x="1778" y="9856"/>
                  <a:pt x="1354" y="9568"/>
                </a:cubicBezTo>
                <a:cubicBezTo>
                  <a:pt x="942" y="9287"/>
                  <a:pt x="615" y="8908"/>
                  <a:pt x="373" y="8432"/>
                </a:cubicBezTo>
                <a:cubicBezTo>
                  <a:pt x="124" y="7940"/>
                  <a:pt x="0" y="7410"/>
                  <a:pt x="0" y="6842"/>
                </a:cubicBezTo>
                <a:cubicBezTo>
                  <a:pt x="0" y="6392"/>
                  <a:pt x="77" y="5966"/>
                  <a:pt x="232" y="5563"/>
                </a:cubicBezTo>
                <a:cubicBezTo>
                  <a:pt x="386" y="5159"/>
                  <a:pt x="601" y="4810"/>
                  <a:pt x="877" y="4516"/>
                </a:cubicBezTo>
                <a:cubicBezTo>
                  <a:pt x="1153" y="4221"/>
                  <a:pt x="1466" y="4003"/>
                  <a:pt x="1818" y="3863"/>
                </a:cubicBezTo>
                <a:lnTo>
                  <a:pt x="1818" y="3684"/>
                </a:lnTo>
                <a:cubicBezTo>
                  <a:pt x="1818" y="3017"/>
                  <a:pt x="1963" y="2396"/>
                  <a:pt x="2254" y="1821"/>
                </a:cubicBezTo>
                <a:cubicBezTo>
                  <a:pt x="2532" y="1266"/>
                  <a:pt x="2911" y="827"/>
                  <a:pt x="3390" y="505"/>
                </a:cubicBezTo>
                <a:cubicBezTo>
                  <a:pt x="3887" y="168"/>
                  <a:pt x="4423" y="0"/>
                  <a:pt x="4999" y="0"/>
                </a:cubicBezTo>
                <a:moveTo>
                  <a:pt x="4999" y="1053"/>
                </a:moveTo>
                <a:cubicBezTo>
                  <a:pt x="4587" y="1053"/>
                  <a:pt x="4206" y="1170"/>
                  <a:pt x="3858" y="1405"/>
                </a:cubicBezTo>
                <a:cubicBezTo>
                  <a:pt x="3510" y="1640"/>
                  <a:pt x="3234" y="1959"/>
                  <a:pt x="3031" y="2363"/>
                </a:cubicBezTo>
                <a:cubicBezTo>
                  <a:pt x="2828" y="2766"/>
                  <a:pt x="2727" y="3206"/>
                  <a:pt x="2727" y="3684"/>
                </a:cubicBezTo>
                <a:lnTo>
                  <a:pt x="2763" y="4600"/>
                </a:lnTo>
                <a:lnTo>
                  <a:pt x="2127" y="4853"/>
                </a:lnTo>
                <a:cubicBezTo>
                  <a:pt x="1763" y="5000"/>
                  <a:pt x="1469" y="5256"/>
                  <a:pt x="1245" y="5621"/>
                </a:cubicBezTo>
                <a:cubicBezTo>
                  <a:pt x="1021" y="5985"/>
                  <a:pt x="909" y="6392"/>
                  <a:pt x="909" y="6842"/>
                </a:cubicBezTo>
                <a:cubicBezTo>
                  <a:pt x="909" y="7221"/>
                  <a:pt x="990" y="7572"/>
                  <a:pt x="1154" y="7895"/>
                </a:cubicBezTo>
                <a:cubicBezTo>
                  <a:pt x="1318" y="8217"/>
                  <a:pt x="1539" y="8473"/>
                  <a:pt x="1818" y="8663"/>
                </a:cubicBezTo>
                <a:cubicBezTo>
                  <a:pt x="2096" y="8852"/>
                  <a:pt x="2399" y="8947"/>
                  <a:pt x="2727" y="8947"/>
                </a:cubicBezTo>
                <a:lnTo>
                  <a:pt x="7271" y="8947"/>
                </a:lnTo>
                <a:cubicBezTo>
                  <a:pt x="7598" y="8947"/>
                  <a:pt x="7901" y="8852"/>
                  <a:pt x="8180" y="8663"/>
                </a:cubicBezTo>
                <a:cubicBezTo>
                  <a:pt x="8458" y="8473"/>
                  <a:pt x="8680" y="8217"/>
                  <a:pt x="8844" y="7895"/>
                </a:cubicBezTo>
                <a:cubicBezTo>
                  <a:pt x="9007" y="7572"/>
                  <a:pt x="9089" y="7221"/>
                  <a:pt x="9089" y="6842"/>
                </a:cubicBezTo>
                <a:cubicBezTo>
                  <a:pt x="9089" y="6463"/>
                  <a:pt x="9007" y="6112"/>
                  <a:pt x="8844" y="5789"/>
                </a:cubicBezTo>
                <a:cubicBezTo>
                  <a:pt x="8680" y="5466"/>
                  <a:pt x="8458" y="5210"/>
                  <a:pt x="8180" y="5021"/>
                </a:cubicBezTo>
                <a:cubicBezTo>
                  <a:pt x="7901" y="4831"/>
                  <a:pt x="7598" y="4737"/>
                  <a:pt x="7271" y="4737"/>
                </a:cubicBezTo>
                <a:cubicBezTo>
                  <a:pt x="6877" y="4737"/>
                  <a:pt x="6521" y="4870"/>
                  <a:pt x="6203" y="5137"/>
                </a:cubicBezTo>
                <a:cubicBezTo>
                  <a:pt x="5885" y="5403"/>
                  <a:pt x="5665" y="5751"/>
                  <a:pt x="5544" y="6179"/>
                </a:cubicBezTo>
                <a:lnTo>
                  <a:pt x="4681" y="5842"/>
                </a:lnTo>
                <a:cubicBezTo>
                  <a:pt x="4802" y="5428"/>
                  <a:pt x="4990" y="5056"/>
                  <a:pt x="5244" y="4726"/>
                </a:cubicBezTo>
                <a:cubicBezTo>
                  <a:pt x="5498" y="4396"/>
                  <a:pt x="5801" y="4140"/>
                  <a:pt x="6153" y="3958"/>
                </a:cubicBezTo>
                <a:cubicBezTo>
                  <a:pt x="6504" y="3775"/>
                  <a:pt x="6877" y="3684"/>
                  <a:pt x="7271" y="3684"/>
                </a:cubicBezTo>
                <a:cubicBezTo>
                  <a:pt x="7271" y="3206"/>
                  <a:pt x="7169" y="2766"/>
                  <a:pt x="6967" y="2363"/>
                </a:cubicBezTo>
                <a:cubicBezTo>
                  <a:pt x="6763" y="1959"/>
                  <a:pt x="6488" y="1640"/>
                  <a:pt x="6140" y="1405"/>
                </a:cubicBezTo>
                <a:cubicBezTo>
                  <a:pt x="5791" y="1170"/>
                  <a:pt x="5411" y="1053"/>
                  <a:pt x="4999" y="105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4703133" y="2262188"/>
            <a:ext cx="105968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云端平台功能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478755" y="2676525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设备管理与认证：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5503628" y="2676525"/>
            <a:ext cx="2004958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支持多设备接入，JWT Token安全认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证，设备在线状态实时监测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4478755" y="3187005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儿童档案管理：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5379833" y="3187005"/>
            <a:ext cx="2256861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多儿童数据隔离，咳嗽记录按档案聚合，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支持长期趋势对比</a:t>
            </a: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4478755" y="3697486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可视化仪表盘：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379833" y="3697486"/>
            <a:ext cx="2339738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24小时分布柱状图、7天趋势折线图、环境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数据关联展示</a:t>
            </a: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4478755" y="4207966"/>
            <a:ext cx="323129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AI智能分析：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5256040" y="4207966"/>
            <a:ext cx="2380654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基于历史数据的咳嗽模式识别、健康趋势预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测、智能观察提醒</a:t>
            </a: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100475" y="2000250"/>
            <a:ext cx="3631391" cy="44005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8100475" y="2000250"/>
            <a:ext cx="363139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8376632" y="2247900"/>
            <a:ext cx="89096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多模态交互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300451" y="2647950"/>
            <a:ext cx="32314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触屏UI界面：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9077734" y="2647950"/>
            <a:ext cx="2367561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LVGL 9.2.0图形库驱动4.3寸电容屏，5页面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导航（主页/统计/设置/提醒/语音）</a:t>
            </a: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8300451" y="3158430"/>
            <a:ext cx="32314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语音助手：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953939" y="3158430"/>
            <a:ext cx="2373959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集成小智AI，支持自然语言查询设备状态，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WebSocket over TLS安全通信</a:t>
            </a: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8300451" y="3668911"/>
            <a:ext cx="32314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手势唤醒：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953939" y="3668911"/>
            <a:ext cx="2573487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LSM6DS3六轴陀螺仪检测挥动手势，实现非接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触式触发</a:t>
            </a: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8300451" y="4179391"/>
            <a:ext cx="32314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多端协同：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953939" y="4179391"/>
            <a:ext cx="2380654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支持物理按键、触屏按钮、手势三种触发方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式，适配不同使用场景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TECHNICAL INNOVATION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技术创新亮点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504950"/>
            <a:ext cx="5523120" cy="23336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57086" y="1504950"/>
            <a:ext cx="552312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712113" y="1847850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995709" y="1838325"/>
            <a:ext cx="144714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端侧ML推理创新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33242" y="2276475"/>
            <a:ext cx="5246963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基于TFLite Micro的INT8量化卷积神经网络（175KB模型体积）部署至PSoC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Edge E84，利用Ethos-U55 NPU实现硬件加速，单次推理延迟&lt;100ms，无需</a:t>
            </a:r>
            <a:endParaRPr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云端依赖即可实时检测。</a:t>
            </a: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08747" y="1504950"/>
            <a:ext cx="5523120" cy="23336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6208747" y="1504950"/>
            <a:ext cx="552312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6463775" y="1847850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44" y="3359"/>
                </a:moveTo>
                <a:lnTo>
                  <a:pt x="1776" y="3359"/>
                </a:lnTo>
                <a:cubicBezTo>
                  <a:pt x="1900" y="3359"/>
                  <a:pt x="2005" y="3412"/>
                  <a:pt x="2091" y="3520"/>
                </a:cubicBezTo>
                <a:cubicBezTo>
                  <a:pt x="2177" y="3626"/>
                  <a:pt x="2220" y="3757"/>
                  <a:pt x="2220" y="3913"/>
                </a:cubicBezTo>
                <a:cubicBezTo>
                  <a:pt x="2575" y="3913"/>
                  <a:pt x="2917" y="3984"/>
                  <a:pt x="3245" y="4128"/>
                </a:cubicBezTo>
                <a:cubicBezTo>
                  <a:pt x="3573" y="4272"/>
                  <a:pt x="3874" y="4477"/>
                  <a:pt x="4147" y="4743"/>
                </a:cubicBezTo>
                <a:lnTo>
                  <a:pt x="5106" y="4743"/>
                </a:lnTo>
                <a:cubicBezTo>
                  <a:pt x="5396" y="4743"/>
                  <a:pt x="5669" y="4816"/>
                  <a:pt x="5927" y="4964"/>
                </a:cubicBezTo>
                <a:cubicBezTo>
                  <a:pt x="6184" y="5111"/>
                  <a:pt x="6407" y="5314"/>
                  <a:pt x="6597" y="5573"/>
                </a:cubicBezTo>
                <a:lnTo>
                  <a:pt x="7991" y="5573"/>
                </a:lnTo>
                <a:cubicBezTo>
                  <a:pt x="8429" y="5573"/>
                  <a:pt x="8827" y="5716"/>
                  <a:pt x="9186" y="6004"/>
                </a:cubicBezTo>
                <a:cubicBezTo>
                  <a:pt x="9544" y="6292"/>
                  <a:pt x="9814" y="6672"/>
                  <a:pt x="9998" y="7144"/>
                </a:cubicBezTo>
                <a:cubicBezTo>
                  <a:pt x="9465" y="8030"/>
                  <a:pt x="8796" y="8723"/>
                  <a:pt x="7991" y="9225"/>
                </a:cubicBezTo>
                <a:cubicBezTo>
                  <a:pt x="7156" y="9741"/>
                  <a:pt x="6268" y="10000"/>
                  <a:pt x="5328" y="10000"/>
                </a:cubicBezTo>
                <a:cubicBezTo>
                  <a:pt x="4126" y="10000"/>
                  <a:pt x="3081" y="9693"/>
                  <a:pt x="2193" y="9081"/>
                </a:cubicBezTo>
                <a:cubicBezTo>
                  <a:pt x="2163" y="9191"/>
                  <a:pt x="2110" y="9280"/>
                  <a:pt x="2033" y="9347"/>
                </a:cubicBezTo>
                <a:cubicBezTo>
                  <a:pt x="1956" y="9413"/>
                  <a:pt x="1870" y="9447"/>
                  <a:pt x="1776" y="9447"/>
                </a:cubicBezTo>
                <a:lnTo>
                  <a:pt x="444" y="9447"/>
                </a:lnTo>
                <a:cubicBezTo>
                  <a:pt x="319" y="9447"/>
                  <a:pt x="214" y="9393"/>
                  <a:pt x="129" y="9286"/>
                </a:cubicBezTo>
                <a:cubicBezTo>
                  <a:pt x="43" y="9179"/>
                  <a:pt x="0" y="9048"/>
                  <a:pt x="0" y="8893"/>
                </a:cubicBezTo>
                <a:lnTo>
                  <a:pt x="0" y="3913"/>
                </a:lnTo>
                <a:cubicBezTo>
                  <a:pt x="0" y="3757"/>
                  <a:pt x="43" y="3626"/>
                  <a:pt x="129" y="3520"/>
                </a:cubicBezTo>
                <a:cubicBezTo>
                  <a:pt x="214" y="3412"/>
                  <a:pt x="319" y="3359"/>
                  <a:pt x="444" y="3359"/>
                </a:cubicBezTo>
                <a:moveTo>
                  <a:pt x="2220" y="5019"/>
                </a:moveTo>
                <a:lnTo>
                  <a:pt x="2220" y="7797"/>
                </a:lnTo>
                <a:lnTo>
                  <a:pt x="2238" y="7820"/>
                </a:lnTo>
                <a:cubicBezTo>
                  <a:pt x="3060" y="8535"/>
                  <a:pt x="4090" y="8893"/>
                  <a:pt x="5328" y="8893"/>
                </a:cubicBezTo>
                <a:cubicBezTo>
                  <a:pt x="5990" y="8893"/>
                  <a:pt x="6622" y="8741"/>
                  <a:pt x="7223" y="8439"/>
                </a:cubicBezTo>
                <a:cubicBezTo>
                  <a:pt x="7823" y="8137"/>
                  <a:pt x="8352" y="7709"/>
                  <a:pt x="8808" y="7156"/>
                </a:cubicBezTo>
                <a:lnTo>
                  <a:pt x="8861" y="7089"/>
                </a:lnTo>
                <a:lnTo>
                  <a:pt x="8817" y="7034"/>
                </a:lnTo>
                <a:cubicBezTo>
                  <a:pt x="8598" y="6820"/>
                  <a:pt x="8352" y="6702"/>
                  <a:pt x="8080" y="6680"/>
                </a:cubicBezTo>
                <a:lnTo>
                  <a:pt x="7991" y="6680"/>
                </a:lnTo>
                <a:lnTo>
                  <a:pt x="7059" y="6680"/>
                </a:lnTo>
                <a:cubicBezTo>
                  <a:pt x="7088" y="6856"/>
                  <a:pt x="7103" y="7041"/>
                  <a:pt x="7103" y="7233"/>
                </a:cubicBezTo>
                <a:lnTo>
                  <a:pt x="7103" y="7786"/>
                </a:lnTo>
                <a:lnTo>
                  <a:pt x="3108" y="7786"/>
                </a:lnTo>
                <a:lnTo>
                  <a:pt x="3108" y="6680"/>
                </a:lnTo>
                <a:lnTo>
                  <a:pt x="6127" y="6680"/>
                </a:lnTo>
                <a:lnTo>
                  <a:pt x="6109" y="6635"/>
                </a:lnTo>
                <a:cubicBezTo>
                  <a:pt x="6020" y="6413"/>
                  <a:pt x="5894" y="6231"/>
                  <a:pt x="5732" y="6087"/>
                </a:cubicBezTo>
                <a:cubicBezTo>
                  <a:pt x="5568" y="5943"/>
                  <a:pt x="5383" y="5864"/>
                  <a:pt x="5177" y="5849"/>
                </a:cubicBezTo>
                <a:lnTo>
                  <a:pt x="3809" y="5849"/>
                </a:lnTo>
                <a:cubicBezTo>
                  <a:pt x="3601" y="5591"/>
                  <a:pt x="3362" y="5388"/>
                  <a:pt x="3090" y="5241"/>
                </a:cubicBezTo>
                <a:cubicBezTo>
                  <a:pt x="2818" y="5093"/>
                  <a:pt x="2528" y="5019"/>
                  <a:pt x="2220" y="5019"/>
                </a:cubicBezTo>
                <a:moveTo>
                  <a:pt x="1332" y="8340"/>
                </a:moveTo>
                <a:lnTo>
                  <a:pt x="1332" y="4466"/>
                </a:lnTo>
                <a:lnTo>
                  <a:pt x="888" y="4466"/>
                </a:lnTo>
                <a:lnTo>
                  <a:pt x="888" y="8340"/>
                </a:lnTo>
                <a:lnTo>
                  <a:pt x="1332" y="8340"/>
                </a:lnTo>
                <a:moveTo>
                  <a:pt x="5612" y="360"/>
                </a:moveTo>
                <a:lnTo>
                  <a:pt x="5771" y="548"/>
                </a:lnTo>
                <a:lnTo>
                  <a:pt x="5931" y="360"/>
                </a:lnTo>
                <a:cubicBezTo>
                  <a:pt x="6073" y="182"/>
                  <a:pt x="6239" y="62"/>
                  <a:pt x="6429" y="0"/>
                </a:cubicBezTo>
                <a:cubicBezTo>
                  <a:pt x="6618" y="-62"/>
                  <a:pt x="6809" y="-62"/>
                  <a:pt x="7001" y="0"/>
                </a:cubicBezTo>
                <a:cubicBezTo>
                  <a:pt x="7193" y="62"/>
                  <a:pt x="7361" y="182"/>
                  <a:pt x="7503" y="360"/>
                </a:cubicBezTo>
                <a:cubicBezTo>
                  <a:pt x="7645" y="536"/>
                  <a:pt x="7739" y="743"/>
                  <a:pt x="7787" y="980"/>
                </a:cubicBezTo>
                <a:cubicBezTo>
                  <a:pt x="7834" y="1216"/>
                  <a:pt x="7834" y="1452"/>
                  <a:pt x="7787" y="1688"/>
                </a:cubicBezTo>
                <a:cubicBezTo>
                  <a:pt x="7739" y="1924"/>
                  <a:pt x="7645" y="2130"/>
                  <a:pt x="7503" y="2308"/>
                </a:cubicBezTo>
                <a:lnTo>
                  <a:pt x="5771" y="4466"/>
                </a:lnTo>
                <a:lnTo>
                  <a:pt x="4049" y="2308"/>
                </a:lnTo>
                <a:cubicBezTo>
                  <a:pt x="3907" y="2130"/>
                  <a:pt x="3810" y="1924"/>
                  <a:pt x="3760" y="1688"/>
                </a:cubicBezTo>
                <a:cubicBezTo>
                  <a:pt x="3710" y="1452"/>
                  <a:pt x="3710" y="1216"/>
                  <a:pt x="3760" y="980"/>
                </a:cubicBezTo>
                <a:cubicBezTo>
                  <a:pt x="3810" y="743"/>
                  <a:pt x="3907" y="536"/>
                  <a:pt x="4049" y="360"/>
                </a:cubicBezTo>
                <a:cubicBezTo>
                  <a:pt x="4191" y="182"/>
                  <a:pt x="4356" y="62"/>
                  <a:pt x="4546" y="0"/>
                </a:cubicBezTo>
                <a:cubicBezTo>
                  <a:pt x="4735" y="-62"/>
                  <a:pt x="4924" y="-62"/>
                  <a:pt x="5114" y="0"/>
                </a:cubicBezTo>
                <a:cubicBezTo>
                  <a:pt x="5304" y="62"/>
                  <a:pt x="5470" y="182"/>
                  <a:pt x="5612" y="360"/>
                </a:cubicBezTo>
                <a:moveTo>
                  <a:pt x="4670" y="1134"/>
                </a:moveTo>
                <a:cubicBezTo>
                  <a:pt x="4634" y="1186"/>
                  <a:pt x="4614" y="1245"/>
                  <a:pt x="4608" y="1312"/>
                </a:cubicBezTo>
                <a:cubicBezTo>
                  <a:pt x="4602" y="1378"/>
                  <a:pt x="4614" y="1437"/>
                  <a:pt x="4644" y="1489"/>
                </a:cubicBezTo>
                <a:lnTo>
                  <a:pt x="4670" y="1533"/>
                </a:lnTo>
                <a:lnTo>
                  <a:pt x="5771" y="2894"/>
                </a:lnTo>
                <a:lnTo>
                  <a:pt x="6873" y="1533"/>
                </a:lnTo>
                <a:cubicBezTo>
                  <a:pt x="6908" y="1481"/>
                  <a:pt x="6929" y="1422"/>
                  <a:pt x="6935" y="1356"/>
                </a:cubicBezTo>
                <a:cubicBezTo>
                  <a:pt x="6941" y="1289"/>
                  <a:pt x="6929" y="1230"/>
                  <a:pt x="6899" y="1179"/>
                </a:cubicBezTo>
                <a:lnTo>
                  <a:pt x="6873" y="1134"/>
                </a:lnTo>
                <a:cubicBezTo>
                  <a:pt x="6831" y="1090"/>
                  <a:pt x="6783" y="1064"/>
                  <a:pt x="6730" y="1057"/>
                </a:cubicBezTo>
                <a:cubicBezTo>
                  <a:pt x="6677" y="1049"/>
                  <a:pt x="6630" y="1068"/>
                  <a:pt x="6588" y="1112"/>
                </a:cubicBezTo>
                <a:lnTo>
                  <a:pt x="6553" y="1134"/>
                </a:lnTo>
                <a:lnTo>
                  <a:pt x="5771" y="2120"/>
                </a:lnTo>
                <a:lnTo>
                  <a:pt x="4990" y="1134"/>
                </a:lnTo>
                <a:lnTo>
                  <a:pt x="4955" y="1112"/>
                </a:lnTo>
                <a:cubicBezTo>
                  <a:pt x="4913" y="1068"/>
                  <a:pt x="4865" y="1049"/>
                  <a:pt x="4813" y="1057"/>
                </a:cubicBezTo>
                <a:cubicBezTo>
                  <a:pt x="4759" y="1064"/>
                  <a:pt x="4712" y="1090"/>
                  <a:pt x="4670" y="113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6747370" y="1838325"/>
            <a:ext cx="135950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多模态交互设计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484903" y="2276475"/>
            <a:ext cx="5246963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业界首创咳嗽监测设备的三模态交互（物理按键+触屏+手势），集成小智AI语音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助手支持自然语言查询，大幅降低儿童与老年用户的使用门槛。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7086" y="4067175"/>
            <a:ext cx="5523120" cy="23336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57086" y="4067175"/>
            <a:ext cx="552312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712113" y="4410075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995709" y="4400550"/>
            <a:ext cx="173430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离线优先与数据安全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33242" y="4838700"/>
            <a:ext cx="5246963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采用事件队列（64条环形缓冲）+日统计摘要+SD卡WAV录音的三级存储策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略，网络中断时数据不丢失；全链路HTTPS/TLS加密传输，设备认证机制保护</a:t>
            </a:r>
            <a:endParaRPr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隐私。</a:t>
            </a: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08747" y="4067175"/>
            <a:ext cx="5523120" cy="23336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>
            <a:off x="6208747" y="4067175"/>
            <a:ext cx="552312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6599175" y="4381500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环境联动分析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484903" y="4800600"/>
            <a:ext cx="5246963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通过AHT20温湿度传感器与咳嗽事件的时间戳关联，云端分析环境因素（干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燥、潮湿、温度波动）与咳嗽频率的潜在关联，提供超越单一症状观察的健康</a:t>
            </a:r>
            <a:endParaRPr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洞察。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HARDWARE PLATFORM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硬件平台：Edgi-Talk开发板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4910138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Infineon PSoC Edge E84 开发板实物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5253038"/>
            <a:ext cx="4570857" cy="114776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5253038"/>
            <a:ext cx="457085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657061" y="5510212"/>
            <a:ext cx="4370882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PSoC</a:t>
            </a:r>
            <a:r>
              <a:rPr lang="en-US" sz="11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Edge E84双核MCU（CM55 400MHz+CM33电源管理）集</a:t>
            </a:r>
            <a:endParaRPr lang="en-US" sz="1100" dirty="0"/>
          </a:p>
          <a:p>
            <a:pPr algn="l"/>
            <a:r>
              <a:rPr sz="11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成Ethos-U55 </a:t>
            </a:r>
            <a:r>
              <a:rPr sz="11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NPU，提供端侧AI加速能力，单USB</a:t>
            </a:r>
            <a:r>
              <a:rPr sz="11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Type-</a:t>
            </a:r>
            <a:r>
              <a:rPr sz="11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C供电实</a:t>
            </a:r>
            <a:endParaRPr dirty="0"/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现紧凑一体化设计</a:t>
            </a:r>
            <a:r>
              <a:rPr sz="11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10" name="AutoShape 10"/>
          <p:cNvSpPr/>
          <p:nvPr/>
        </p:nvSpPr>
        <p:spPr>
          <a:xfrm>
            <a:off x="5332666" y="1438275"/>
            <a:ext cx="6399200" cy="49720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5332666" y="1428750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5570732" y="1714500"/>
            <a:ext cx="592306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核心硬件组件规格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570732" y="2095500"/>
          <a:ext cx="5905500" cy="30480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组件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1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型号/规格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1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功能说明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1F3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主控芯片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PSoC</a:t>
                      </a:r>
                      <a:r>
                        <a:rPr sz="1000" b="0" i="0" strike="noStrike" dirty="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 Edge E84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 dirty="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双核MCU（CM55+CM33），集成Ethos-U55 NPU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音频采集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PDM麦克风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16kHz/16bit单声道采样，MEMS数字输出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温湿度传感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AHT20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I2C接口，精度±0.3°C/±2%RH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运动传感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LSM6DS3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6轴IMU，支持手势检测与姿态识别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显示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4.3寸LCD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480×272分辨率，MIPI DSI接口，电容触控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无线通信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CYW55500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WiFi 802.11b/g/n，支持AP/STA双模式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存储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SD卡插槽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本地WAV录音与CSV日志持久化存储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6214923" y="6005512"/>
            <a:ext cx="4634688" cy="15716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800" b="0" i="0" strike="noStrike" dirty="0" err="1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硬件集成度满足端侧AI推理、环境感知、人机交互、无线通信的完整需求</a:t>
            </a:r>
            <a:endParaRPr lang="en-US" sz="11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02F9964-9102-162A-AEBA-8D1BE8F40E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39" y="1477398"/>
            <a:ext cx="2453883" cy="327184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848AFF2-F614-078E-67A9-BAFA542382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502" y="1477399"/>
            <a:ext cx="2453882" cy="3271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TECHNICAL 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8001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软件开发平台与技术栈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438275"/>
            <a:ext cx="1173186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软件架构采用分层解耦设计：嵌入式端基于RT-Thread实时操作系统实现多任务并发与硬件抽象，利用CMSIS-DSP库加速数字信号处理；云端基于Python异步</a:t>
            </a:r>
            <a:endParaRPr lang="en-US" sz="1100" dirty="0"/>
          </a:p>
          <a:p>
            <a:pPr algn="l"/>
            <a:r>
              <a:rPr sz="12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生态（FastAPI+SQLAlchemy）构建高性能RESTful服务，前后端分离架构确保可扩展性</a:t>
            </a:r>
            <a:r>
              <a:rPr sz="12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6" name="AutoShape 6"/>
          <p:cNvSpPr/>
          <p:nvPr/>
        </p:nvSpPr>
        <p:spPr>
          <a:xfrm>
            <a:off x="457086" y="2213373"/>
            <a:ext cx="11274781" cy="41874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57086" y="2213373"/>
            <a:ext cx="1127478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695151" y="2499123"/>
            <a:ext cx="1079865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 dirty="0" err="1">
                <a:ln/>
                <a:solidFill>
                  <a:srgbClr val="0A1F3D">
                    <a:alpha val="9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嵌入式端与云端技术栈对比</a:t>
            </a:r>
            <a:endParaRPr lang="en-US" sz="1100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95151" y="2918223"/>
          <a:ext cx="10782300" cy="314960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层级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1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嵌入式端技术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1F3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云端技术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1F3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操作系统/框架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RT-Thread 5.0.2（实时内核）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FastAPI 0.100+（异步Web框架）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AI推理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TFLite Micro + Ethos-U55 NPU驱动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GPT-4o-mini（可选AI分析服务）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UI/可视化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LVGL 9.2.0（嵌入式图形库）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Vue.js 3 + Element Plus + ECharts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数据存储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FlashDB（KV数据库）+ SD卡文件系统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SQLite 3 + SQLAlchemy ORM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网络通信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LwIP 2.1.2 + mbedTLS v2.28.1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RESTful API + </a:t>
                      </a:r>
                      <a:r>
                        <a:rPr sz="1100" b="0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JWT认证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开发工具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RT-Thread Studio + DeepCraft Studio</a:t>
                      </a:r>
                      <a:endParaRPr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Python + </a:t>
                      </a:r>
                      <a:r>
                        <a:rPr sz="1100" b="0" i="0" strike="noStrike" dirty="0" err="1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Vite构建工具</a:t>
                      </a:r>
                      <a:endParaRPr dirty="0"/>
                    </a:p>
                  </a:txBody>
                  <a:tcPr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9266460" y="6125547"/>
            <a:ext cx="219972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r">
              <a:defRPr/>
            </a:pPr>
            <a:r>
              <a:rPr lang="en-US" sz="900" b="0" i="0" strike="noStrike" dirty="0" err="1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技术栈选型兼顾实时性、安全性与开发效率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239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系统软件架构与双核分工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266825"/>
            <a:ext cx="1071101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异构双核+端云协同架构：CM55运行RT-Thread负责全业务逻辑与AI推理，CM33专注电源管理与系统启动，双核通过HyperRAM共享区交互。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657350"/>
            <a:ext cx="6399200" cy="15049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57086" y="1657350"/>
            <a:ext cx="9522" cy="15049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24327" y="1831181"/>
            <a:ext cx="123795" cy="12382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791568" y="1819275"/>
            <a:ext cx="59028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CM55核心业务层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38015" y="2071688"/>
            <a:ext cx="6056386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三线程架构：cd_mic音频采集（10ms帧）、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cd_inf推理线程（FFT+TFLite</a:t>
            </a: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）、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cd_ctl控制线程</a:t>
            </a:r>
            <a:endParaRPr lang="en-US" sz="1100"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AI推理管线：512点RFFT提取特征→INT8量化→TFLite Micro </a:t>
            </a:r>
            <a:r>
              <a:rPr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Invoke→咳嗽置信度输出</a:t>
            </a:r>
            <a:endParaRPr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</a:t>
            </a:r>
            <a:r>
              <a:rPr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应用层：LVGL</a:t>
            </a:r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</a:t>
            </a:r>
            <a:r>
              <a:rPr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UI、小智AI语音、WiFi通信、SD卡存储、环境传感器采集</a:t>
            </a:r>
            <a:endParaRPr dirty="0"/>
          </a:p>
        </p:txBody>
      </p:sp>
      <p:sp>
        <p:nvSpPr>
          <p:cNvPr id="11" name="AutoShape 11"/>
          <p:cNvSpPr/>
          <p:nvPr/>
        </p:nvSpPr>
        <p:spPr>
          <a:xfrm>
            <a:off x="457086" y="3276600"/>
            <a:ext cx="6399200" cy="15049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457086" y="3276600"/>
            <a:ext cx="9522" cy="15049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695151" y="3438525"/>
            <a:ext cx="59992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CM33系统层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38015" y="3690938"/>
            <a:ext cx="6056386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电源管理：独立控制6个电源域（WiFi/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音频</a:t>
            </a: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显示等</a:t>
            </a: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），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支持Hibernate超低功耗模式</a:t>
            </a:r>
            <a:endParaRPr lang="en-US" sz="1100"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系统启动：时钟树配置（CLK_HF0~HF5）、使能各电源域、加载CM55固件镜像</a:t>
            </a:r>
            <a:endParaRPr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双核交互：通过HyperRAM共享区（12MB）传递录音数据，MTB-IPC库预留</a:t>
            </a:r>
            <a:endParaRPr dirty="0"/>
          </a:p>
        </p:txBody>
      </p:sp>
      <p:sp>
        <p:nvSpPr>
          <p:cNvPr id="15" name="AutoShape 15"/>
          <p:cNvSpPr/>
          <p:nvPr/>
        </p:nvSpPr>
        <p:spPr>
          <a:xfrm>
            <a:off x="457086" y="4895850"/>
            <a:ext cx="6399200" cy="15049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57086" y="4895850"/>
            <a:ext cx="9522" cy="15049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624327" y="5069681"/>
            <a:ext cx="123795" cy="12382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574" y="0"/>
                  <a:pt x="6110" y="168"/>
                  <a:pt x="6608" y="505"/>
                </a:cubicBezTo>
                <a:cubicBezTo>
                  <a:pt x="7086" y="827"/>
                  <a:pt x="7465" y="1266"/>
                  <a:pt x="7744" y="1821"/>
                </a:cubicBezTo>
                <a:cubicBezTo>
                  <a:pt x="8034" y="2396"/>
                  <a:pt x="8180" y="3017"/>
                  <a:pt x="8180" y="3684"/>
                </a:cubicBezTo>
                <a:lnTo>
                  <a:pt x="8180" y="3863"/>
                </a:lnTo>
                <a:cubicBezTo>
                  <a:pt x="8531" y="4003"/>
                  <a:pt x="8845" y="4221"/>
                  <a:pt x="9121" y="4516"/>
                </a:cubicBezTo>
                <a:cubicBezTo>
                  <a:pt x="9396" y="4810"/>
                  <a:pt x="9611" y="5159"/>
                  <a:pt x="9766" y="5563"/>
                </a:cubicBezTo>
                <a:cubicBezTo>
                  <a:pt x="9920" y="5966"/>
                  <a:pt x="9998" y="6392"/>
                  <a:pt x="9998" y="6842"/>
                </a:cubicBezTo>
                <a:cubicBezTo>
                  <a:pt x="9998" y="7410"/>
                  <a:pt x="9873" y="7940"/>
                  <a:pt x="9625" y="8432"/>
                </a:cubicBezTo>
                <a:cubicBezTo>
                  <a:pt x="9383" y="8908"/>
                  <a:pt x="9056" y="9287"/>
                  <a:pt x="8644" y="9568"/>
                </a:cubicBezTo>
                <a:cubicBezTo>
                  <a:pt x="8219" y="9856"/>
                  <a:pt x="7761" y="10000"/>
                  <a:pt x="7271" y="10000"/>
                </a:cubicBezTo>
                <a:lnTo>
                  <a:pt x="2727" y="10000"/>
                </a:lnTo>
                <a:cubicBezTo>
                  <a:pt x="2236" y="10000"/>
                  <a:pt x="1778" y="9856"/>
                  <a:pt x="1354" y="9568"/>
                </a:cubicBezTo>
                <a:cubicBezTo>
                  <a:pt x="942" y="9287"/>
                  <a:pt x="615" y="8908"/>
                  <a:pt x="373" y="8432"/>
                </a:cubicBezTo>
                <a:cubicBezTo>
                  <a:pt x="124" y="7940"/>
                  <a:pt x="0" y="7410"/>
                  <a:pt x="0" y="6842"/>
                </a:cubicBezTo>
                <a:cubicBezTo>
                  <a:pt x="0" y="6392"/>
                  <a:pt x="77" y="5966"/>
                  <a:pt x="232" y="5563"/>
                </a:cubicBezTo>
                <a:cubicBezTo>
                  <a:pt x="386" y="5159"/>
                  <a:pt x="601" y="4810"/>
                  <a:pt x="877" y="4516"/>
                </a:cubicBezTo>
                <a:cubicBezTo>
                  <a:pt x="1153" y="4221"/>
                  <a:pt x="1466" y="4003"/>
                  <a:pt x="1818" y="3863"/>
                </a:cubicBezTo>
                <a:lnTo>
                  <a:pt x="1818" y="3684"/>
                </a:lnTo>
                <a:cubicBezTo>
                  <a:pt x="1818" y="3017"/>
                  <a:pt x="1963" y="2396"/>
                  <a:pt x="2254" y="1821"/>
                </a:cubicBezTo>
                <a:cubicBezTo>
                  <a:pt x="2532" y="1266"/>
                  <a:pt x="2911" y="827"/>
                  <a:pt x="3390" y="505"/>
                </a:cubicBezTo>
                <a:cubicBezTo>
                  <a:pt x="3887" y="168"/>
                  <a:pt x="4423" y="0"/>
                  <a:pt x="4999" y="0"/>
                </a:cubicBezTo>
                <a:moveTo>
                  <a:pt x="4999" y="1053"/>
                </a:moveTo>
                <a:cubicBezTo>
                  <a:pt x="4587" y="1053"/>
                  <a:pt x="4206" y="1170"/>
                  <a:pt x="3858" y="1405"/>
                </a:cubicBezTo>
                <a:cubicBezTo>
                  <a:pt x="3510" y="1640"/>
                  <a:pt x="3234" y="1959"/>
                  <a:pt x="3031" y="2363"/>
                </a:cubicBezTo>
                <a:cubicBezTo>
                  <a:pt x="2828" y="2766"/>
                  <a:pt x="2727" y="3206"/>
                  <a:pt x="2727" y="3684"/>
                </a:cubicBezTo>
                <a:lnTo>
                  <a:pt x="2763" y="4600"/>
                </a:lnTo>
                <a:lnTo>
                  <a:pt x="2127" y="4853"/>
                </a:lnTo>
                <a:cubicBezTo>
                  <a:pt x="1763" y="5000"/>
                  <a:pt x="1469" y="5256"/>
                  <a:pt x="1245" y="5621"/>
                </a:cubicBezTo>
                <a:cubicBezTo>
                  <a:pt x="1021" y="5985"/>
                  <a:pt x="909" y="6392"/>
                  <a:pt x="909" y="6842"/>
                </a:cubicBezTo>
                <a:cubicBezTo>
                  <a:pt x="909" y="7221"/>
                  <a:pt x="990" y="7572"/>
                  <a:pt x="1154" y="7895"/>
                </a:cubicBezTo>
                <a:cubicBezTo>
                  <a:pt x="1318" y="8217"/>
                  <a:pt x="1539" y="8473"/>
                  <a:pt x="1818" y="8663"/>
                </a:cubicBezTo>
                <a:cubicBezTo>
                  <a:pt x="2096" y="8852"/>
                  <a:pt x="2399" y="8947"/>
                  <a:pt x="2727" y="8947"/>
                </a:cubicBezTo>
                <a:lnTo>
                  <a:pt x="7271" y="8947"/>
                </a:lnTo>
                <a:cubicBezTo>
                  <a:pt x="7598" y="8947"/>
                  <a:pt x="7901" y="8852"/>
                  <a:pt x="8180" y="8663"/>
                </a:cubicBezTo>
                <a:cubicBezTo>
                  <a:pt x="8458" y="8473"/>
                  <a:pt x="8680" y="8217"/>
                  <a:pt x="8844" y="7895"/>
                </a:cubicBezTo>
                <a:cubicBezTo>
                  <a:pt x="9007" y="7572"/>
                  <a:pt x="9089" y="7221"/>
                  <a:pt x="9089" y="6842"/>
                </a:cubicBezTo>
                <a:cubicBezTo>
                  <a:pt x="9089" y="6463"/>
                  <a:pt x="9007" y="6112"/>
                  <a:pt x="8844" y="5789"/>
                </a:cubicBezTo>
                <a:cubicBezTo>
                  <a:pt x="8680" y="5466"/>
                  <a:pt x="8458" y="5210"/>
                  <a:pt x="8180" y="5021"/>
                </a:cubicBezTo>
                <a:cubicBezTo>
                  <a:pt x="7901" y="4831"/>
                  <a:pt x="7598" y="4737"/>
                  <a:pt x="7271" y="4737"/>
                </a:cubicBezTo>
                <a:cubicBezTo>
                  <a:pt x="6877" y="4737"/>
                  <a:pt x="6521" y="4870"/>
                  <a:pt x="6203" y="5137"/>
                </a:cubicBezTo>
                <a:cubicBezTo>
                  <a:pt x="5885" y="5403"/>
                  <a:pt x="5665" y="5751"/>
                  <a:pt x="5544" y="6179"/>
                </a:cubicBezTo>
                <a:lnTo>
                  <a:pt x="4681" y="5842"/>
                </a:lnTo>
                <a:cubicBezTo>
                  <a:pt x="4802" y="5428"/>
                  <a:pt x="4990" y="5056"/>
                  <a:pt x="5244" y="4726"/>
                </a:cubicBezTo>
                <a:cubicBezTo>
                  <a:pt x="5498" y="4396"/>
                  <a:pt x="5801" y="4140"/>
                  <a:pt x="6153" y="3958"/>
                </a:cubicBezTo>
                <a:cubicBezTo>
                  <a:pt x="6504" y="3775"/>
                  <a:pt x="6877" y="3684"/>
                  <a:pt x="7271" y="3684"/>
                </a:cubicBezTo>
                <a:cubicBezTo>
                  <a:pt x="7271" y="3206"/>
                  <a:pt x="7169" y="2766"/>
                  <a:pt x="6967" y="2363"/>
                </a:cubicBezTo>
                <a:cubicBezTo>
                  <a:pt x="6763" y="1959"/>
                  <a:pt x="6488" y="1640"/>
                  <a:pt x="6140" y="1405"/>
                </a:cubicBezTo>
                <a:cubicBezTo>
                  <a:pt x="5791" y="1170"/>
                  <a:pt x="5411" y="1053"/>
                  <a:pt x="4999" y="105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791568" y="5057775"/>
            <a:ext cx="59028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云端服务层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8015" y="5310188"/>
            <a:ext cx="6056386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FastAPI后端：8个API端点（心跳/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环境</a:t>
            </a: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咳嗽事件</a:t>
            </a: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统计</a:t>
            </a:r>
            <a:r>
              <a:rPr lang="en-US"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/OTA），JWT </a:t>
            </a:r>
            <a:r>
              <a:rPr lang="en-US"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Token认证</a:t>
            </a:r>
            <a:endParaRPr lang="en-US" sz="1100"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业务服务：报告生成、告警规则引擎（9条观察规则）、AI分析服务（可选GPT-4o-mini）</a:t>
            </a:r>
            <a:endParaRPr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• </a:t>
            </a:r>
            <a:r>
              <a:rPr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Vue.js前端：仪表盘、趋势报表、设备管理、儿童档案、提醒中心五大模块</a:t>
            </a:r>
            <a:endParaRPr dirty="0"/>
          </a:p>
        </p:txBody>
      </p:sp>
      <p:sp>
        <p:nvSpPr>
          <p:cNvPr id="22" name="TextBox 22"/>
          <p:cNvSpPr txBox="1"/>
          <p:nvPr/>
        </p:nvSpPr>
        <p:spPr>
          <a:xfrm>
            <a:off x="7544254" y="5721097"/>
            <a:ext cx="3634814" cy="15716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800" b="0" i="0" strike="noStrike" dirty="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RT-</a:t>
            </a:r>
            <a:r>
              <a:rPr lang="en-US" sz="800" b="0" i="0" strike="noStrike" dirty="0" err="1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Thread物联网系统架构</a:t>
            </a:r>
            <a:r>
              <a:rPr lang="en-US" sz="800" b="0" i="0" strike="noStrike" dirty="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 · 端云协同数据同步周期10分钟</a:t>
            </a:r>
            <a:endParaRPr lang="en-US" sz="11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1EECB13-688A-81A5-E9C0-653BCA682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944" y="1628770"/>
            <a:ext cx="5188208" cy="3970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14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8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TECHNICAL 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00088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咳嗽检测：模型与数据集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320998"/>
            <a:ext cx="11274781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端到端轻量化设计：</a:t>
            </a:r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输入512点FFT提取的Log-Power-Spectrum特征（40帧×257频点），</a:t>
            </a:r>
            <a:r>
              <a:rPr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经深度可分离卷积网</a:t>
            </a:r>
            <a:endParaRPr lang="en-US" sz="1100" dirty="0"/>
          </a:p>
          <a:p>
            <a:pPr algn="l"/>
            <a:r>
              <a:rPr sz="10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络（CNN）分类，训练集融合自采数据与COUGHVID</a:t>
            </a:r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V3开源数据集，INT8量化后模型体积压缩至175KB，</a:t>
            </a:r>
            <a:endParaRPr dirty="0"/>
          </a:p>
          <a:p>
            <a:pPr algn="l"/>
            <a:r>
              <a:rPr sz="10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准确率保持≥90%。</a:t>
            </a:r>
            <a:endParaRPr dirty="0"/>
          </a:p>
        </p:txBody>
      </p:sp>
      <p:sp>
        <p:nvSpPr>
          <p:cNvPr id="6" name="TextBox 6"/>
          <p:cNvSpPr txBox="1"/>
          <p:nvPr/>
        </p:nvSpPr>
        <p:spPr>
          <a:xfrm>
            <a:off x="457086" y="2103685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42765" y="2103685"/>
            <a:ext cx="6113521" cy="3347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数据集构建：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混合自采数据（卧室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客厅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户外多场景）与Kaggle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COUGHVID V3开源数据集，涵盖强咳嗽、弱咳</a:t>
            </a:r>
            <a:endParaRPr lang="en-US" sz="1100" dirty="0"/>
          </a:p>
          <a:p>
            <a:pPr algn="l"/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嗽、环境噪声（语音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电视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风声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）、静音四类别，按7:2:1划分训练/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验证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测试集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8" name="TextBox 8"/>
          <p:cNvSpPr txBox="1"/>
          <p:nvPr/>
        </p:nvSpPr>
        <p:spPr>
          <a:xfrm>
            <a:off x="457086" y="2582615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42765" y="2582615"/>
            <a:ext cx="6122449" cy="3347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信号预处理：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16kHz重采样→预加重高通滤波→25ms帧长/10ms帧移汉明窗→64维MFCC及其一阶/</a:t>
            </a:r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二阶差分→Z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-</a:t>
            </a:r>
            <a:endParaRPr lang="en-US" sz="1100" dirty="0"/>
          </a:p>
          <a:p>
            <a:pPr algn="l"/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score标准化，构建反映声音短时功率谱包络的特征向量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10" name="TextBox 10"/>
          <p:cNvSpPr txBox="1"/>
          <p:nvPr/>
        </p:nvSpPr>
        <p:spPr>
          <a:xfrm>
            <a:off x="457086" y="3061543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742765" y="3061543"/>
            <a:ext cx="6113521" cy="3347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模型架构：</a:t>
            </a:r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输入层→2组深度可分离卷积（Conv2D+BatchNorm+ReLU+MaxPool）→全局平均池化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→Dropout(0.5)→全连接层输出3类，遵循'窄而深'轻量化原则。</a:t>
            </a: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457086" y="3540472"/>
            <a:ext cx="1904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42765" y="3540472"/>
            <a:ext cx="6113521" cy="3347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训练与量化：</a:t>
            </a:r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在DeepCraft Studio使用TensorFlow训练，Adam优化器初始学习率0.001，经TFLite Micro工具链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INT8量化，适配Ethos-U55 NPU加速，测试集F1-score≥0.94。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161009" y="1292423"/>
            <a:ext cx="4570857" cy="510837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7161009" y="1292423"/>
            <a:ext cx="457085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8103823" y="1511498"/>
            <a:ext cx="268523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2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模型性能指标对比</a:t>
            </a:r>
            <a:endParaRPr lang="en-US" sz="1100"/>
          </a:p>
        </p:txBody>
      </p:sp>
      <p:graphicFrame>
        <p:nvGraphicFramePr>
          <p:cNvPr id="17" name="Chart 17"/>
          <p:cNvGraphicFramePr>
            <a:graphicFrameLocks noGrp="1"/>
          </p:cNvGraphicFramePr>
          <p:nvPr/>
        </p:nvGraphicFramePr>
        <p:xfrm>
          <a:off x="7360985" y="1854398"/>
          <a:ext cx="4170907" cy="4113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849390" y="6043612"/>
            <a:ext cx="3194094" cy="15716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800" b="0" i="0" strike="noStrike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INT8量化在保持高精度的同时显著降低资源占用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SOFTWARE IMPLEMENTATION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1437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咳嗽检测：软件实现与数据流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06711"/>
            <a:ext cx="11274781" cy="762000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57086" y="1306711"/>
            <a:ext cx="9522" cy="76200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676106" y="1487686"/>
            <a:ext cx="115128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核心策略：</a:t>
            </a:r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嵌入式端采用"持续推理+单阈值判定"策略替代传统的"能量门限触发"：三线程并行架构（cd_mic/cd_inf/cd_ctl）通过RT-Thread事件机制协同，推理线程始终运行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不中断，咳嗽置信度≥0.35即触发3秒预触发+2秒后续录音（可延长至30秒），确保完整捕获咳嗽事件。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086" y="2259211"/>
            <a:ext cx="5561209" cy="199459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2259211"/>
            <a:ext cx="5561209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02083" y="2468761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813737" y="2471142"/>
            <a:ext cx="66866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三线程架构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18970" y="2773561"/>
            <a:ext cx="5399325" cy="53905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cd_mic线程每10ms轮询rt_device_read()读取160样本写入560帧（3.5秒）环形缓冲；cd_inf线程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累积65帧→补零至10496样本→40帧×257频点谱图→INT8量化→TFLite Micro推理；cd_ctl线程</a:t>
            </a:r>
            <a:endParaRPr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事件驱动处理CD_EVENT_COUGH。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170657" y="2259211"/>
            <a:ext cx="5561209" cy="199459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6170657" y="2259211"/>
            <a:ext cx="5561209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315654" y="2468761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817" y="1429"/>
                </a:moveTo>
                <a:lnTo>
                  <a:pt x="3181" y="1429"/>
                </a:lnTo>
                <a:cubicBezTo>
                  <a:pt x="2769" y="1429"/>
                  <a:pt x="2389" y="1588"/>
                  <a:pt x="2041" y="1907"/>
                </a:cubicBezTo>
                <a:cubicBezTo>
                  <a:pt x="1692" y="2226"/>
                  <a:pt x="1416" y="2659"/>
                  <a:pt x="1213" y="3207"/>
                </a:cubicBezTo>
                <a:cubicBezTo>
                  <a:pt x="1010" y="3755"/>
                  <a:pt x="909" y="4352"/>
                  <a:pt x="909" y="5000"/>
                </a:cubicBezTo>
                <a:cubicBezTo>
                  <a:pt x="909" y="5647"/>
                  <a:pt x="1010" y="6245"/>
                  <a:pt x="1213" y="6793"/>
                </a:cubicBezTo>
                <a:cubicBezTo>
                  <a:pt x="1416" y="7340"/>
                  <a:pt x="1692" y="7773"/>
                  <a:pt x="2041" y="8093"/>
                </a:cubicBezTo>
                <a:cubicBezTo>
                  <a:pt x="2389" y="8411"/>
                  <a:pt x="2769" y="8571"/>
                  <a:pt x="3181" y="8571"/>
                </a:cubicBezTo>
                <a:lnTo>
                  <a:pt x="6817" y="8571"/>
                </a:lnTo>
                <a:cubicBezTo>
                  <a:pt x="7229" y="8571"/>
                  <a:pt x="7609" y="8411"/>
                  <a:pt x="7957" y="8093"/>
                </a:cubicBezTo>
                <a:cubicBezTo>
                  <a:pt x="8305" y="7773"/>
                  <a:pt x="8581" y="7340"/>
                  <a:pt x="8785" y="6793"/>
                </a:cubicBezTo>
                <a:cubicBezTo>
                  <a:pt x="8987" y="6245"/>
                  <a:pt x="9089" y="5647"/>
                  <a:pt x="9089" y="5000"/>
                </a:cubicBezTo>
                <a:cubicBezTo>
                  <a:pt x="9089" y="4352"/>
                  <a:pt x="8987" y="3755"/>
                  <a:pt x="8785" y="3207"/>
                </a:cubicBezTo>
                <a:cubicBezTo>
                  <a:pt x="8581" y="2659"/>
                  <a:pt x="8305" y="2226"/>
                  <a:pt x="7957" y="1907"/>
                </a:cubicBezTo>
                <a:cubicBezTo>
                  <a:pt x="7609" y="1588"/>
                  <a:pt x="7229" y="1429"/>
                  <a:pt x="6817" y="1429"/>
                </a:cubicBezTo>
                <a:moveTo>
                  <a:pt x="3181" y="0"/>
                </a:moveTo>
                <a:lnTo>
                  <a:pt x="6817" y="0"/>
                </a:lnTo>
                <a:cubicBezTo>
                  <a:pt x="7392" y="0"/>
                  <a:pt x="7928" y="228"/>
                  <a:pt x="8426" y="686"/>
                </a:cubicBezTo>
                <a:cubicBezTo>
                  <a:pt x="8904" y="1124"/>
                  <a:pt x="9283" y="1719"/>
                  <a:pt x="9562" y="2471"/>
                </a:cubicBezTo>
                <a:cubicBezTo>
                  <a:pt x="9852" y="3252"/>
                  <a:pt x="9998" y="4095"/>
                  <a:pt x="9998" y="5000"/>
                </a:cubicBezTo>
                <a:cubicBezTo>
                  <a:pt x="9998" y="5904"/>
                  <a:pt x="9852" y="6747"/>
                  <a:pt x="9562" y="7529"/>
                </a:cubicBezTo>
                <a:cubicBezTo>
                  <a:pt x="9283" y="8281"/>
                  <a:pt x="8904" y="8876"/>
                  <a:pt x="8426" y="9314"/>
                </a:cubicBezTo>
                <a:cubicBezTo>
                  <a:pt x="7928" y="9771"/>
                  <a:pt x="7392" y="10000"/>
                  <a:pt x="6817" y="10000"/>
                </a:cubicBezTo>
                <a:lnTo>
                  <a:pt x="3181" y="10000"/>
                </a:lnTo>
                <a:cubicBezTo>
                  <a:pt x="2605" y="10000"/>
                  <a:pt x="2069" y="9771"/>
                  <a:pt x="1572" y="9314"/>
                </a:cubicBezTo>
                <a:cubicBezTo>
                  <a:pt x="1093" y="8876"/>
                  <a:pt x="714" y="8281"/>
                  <a:pt x="436" y="7529"/>
                </a:cubicBezTo>
                <a:cubicBezTo>
                  <a:pt x="145" y="6747"/>
                  <a:pt x="0" y="5904"/>
                  <a:pt x="0" y="5000"/>
                </a:cubicBezTo>
                <a:cubicBezTo>
                  <a:pt x="0" y="4095"/>
                  <a:pt x="145" y="3252"/>
                  <a:pt x="436" y="2471"/>
                </a:cubicBezTo>
                <a:cubicBezTo>
                  <a:pt x="714" y="1719"/>
                  <a:pt x="1093" y="1124"/>
                  <a:pt x="1572" y="686"/>
                </a:cubicBezTo>
                <a:cubicBezTo>
                  <a:pt x="2069" y="228"/>
                  <a:pt x="2605" y="0"/>
                  <a:pt x="3181" y="0"/>
                </a:cubicBezTo>
                <a:moveTo>
                  <a:pt x="3181" y="7143"/>
                </a:moveTo>
                <a:cubicBezTo>
                  <a:pt x="2933" y="7143"/>
                  <a:pt x="2704" y="7047"/>
                  <a:pt x="2495" y="6857"/>
                </a:cubicBezTo>
                <a:cubicBezTo>
                  <a:pt x="2285" y="6666"/>
                  <a:pt x="2120" y="6407"/>
                  <a:pt x="2000" y="6079"/>
                </a:cubicBezTo>
                <a:cubicBezTo>
                  <a:pt x="1878" y="5750"/>
                  <a:pt x="1818" y="5390"/>
                  <a:pt x="1818" y="5000"/>
                </a:cubicBezTo>
                <a:cubicBezTo>
                  <a:pt x="1818" y="4609"/>
                  <a:pt x="1878" y="4249"/>
                  <a:pt x="2000" y="3921"/>
                </a:cubicBezTo>
                <a:cubicBezTo>
                  <a:pt x="2120" y="3593"/>
                  <a:pt x="2285" y="3333"/>
                  <a:pt x="2495" y="3143"/>
                </a:cubicBezTo>
                <a:cubicBezTo>
                  <a:pt x="2704" y="2952"/>
                  <a:pt x="2933" y="2857"/>
                  <a:pt x="3181" y="2857"/>
                </a:cubicBezTo>
                <a:cubicBezTo>
                  <a:pt x="3429" y="2857"/>
                  <a:pt x="3658" y="2952"/>
                  <a:pt x="3867" y="3143"/>
                </a:cubicBezTo>
                <a:cubicBezTo>
                  <a:pt x="4076" y="3333"/>
                  <a:pt x="4241" y="3593"/>
                  <a:pt x="4363" y="3921"/>
                </a:cubicBezTo>
                <a:cubicBezTo>
                  <a:pt x="4484" y="4249"/>
                  <a:pt x="4545" y="4609"/>
                  <a:pt x="4545" y="5000"/>
                </a:cubicBezTo>
                <a:cubicBezTo>
                  <a:pt x="4545" y="5390"/>
                  <a:pt x="4484" y="5750"/>
                  <a:pt x="4363" y="6079"/>
                </a:cubicBezTo>
                <a:cubicBezTo>
                  <a:pt x="4241" y="6407"/>
                  <a:pt x="4076" y="6666"/>
                  <a:pt x="3867" y="6857"/>
                </a:cubicBezTo>
                <a:cubicBezTo>
                  <a:pt x="3658" y="7047"/>
                  <a:pt x="3429" y="7143"/>
                  <a:pt x="3181" y="714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6527309" y="2471142"/>
            <a:ext cx="924735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单阈值判定策略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332541" y="2773561"/>
            <a:ext cx="5399325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默认阈值0.35（0.1-0.95可动态配置），</a:t>
            </a:r>
            <a:r>
              <a:rPr lang="en-US"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摒弃"开始</a:t>
            </a:r>
            <a:r>
              <a:rPr lang="en-US"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/结束"双阈值状态机，避免0.05-0.4置信度区间</a:t>
            </a:r>
            <a:endParaRPr lang="en-US" sz="1100" dirty="0"/>
          </a:p>
          <a:p>
            <a:pPr algn="l"/>
            <a:r>
              <a:rPr sz="900" b="0" i="0" strike="noStrike" dirty="0" err="1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的状态抖动；推理始终运行不依赖能量门限，防止遗漏跨窗口或低强度咳嗽</a:t>
            </a:r>
            <a:r>
              <a:rPr sz="900" b="0" i="0" strike="noStrike" dirty="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18" name="AutoShape 18"/>
          <p:cNvSpPr/>
          <p:nvPr/>
        </p:nvSpPr>
        <p:spPr>
          <a:xfrm>
            <a:off x="457086" y="4406205"/>
            <a:ext cx="5561209" cy="199459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57086" y="4406205"/>
            <a:ext cx="5561209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602083" y="4615755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909"/>
                </a:moveTo>
                <a:cubicBezTo>
                  <a:pt x="4693" y="909"/>
                  <a:pt x="4411" y="969"/>
                  <a:pt x="4155" y="1091"/>
                </a:cubicBezTo>
                <a:cubicBezTo>
                  <a:pt x="3897" y="1212"/>
                  <a:pt x="3694" y="1377"/>
                  <a:pt x="3545" y="1586"/>
                </a:cubicBezTo>
                <a:cubicBezTo>
                  <a:pt x="3395" y="1795"/>
                  <a:pt x="3321" y="2024"/>
                  <a:pt x="3321" y="2273"/>
                </a:cubicBezTo>
                <a:lnTo>
                  <a:pt x="3321" y="4091"/>
                </a:lnTo>
                <a:cubicBezTo>
                  <a:pt x="3321" y="4339"/>
                  <a:pt x="3395" y="4568"/>
                  <a:pt x="3545" y="4777"/>
                </a:cubicBezTo>
                <a:cubicBezTo>
                  <a:pt x="3694" y="4986"/>
                  <a:pt x="3897" y="5151"/>
                  <a:pt x="4155" y="5273"/>
                </a:cubicBezTo>
                <a:cubicBezTo>
                  <a:pt x="4411" y="5394"/>
                  <a:pt x="4693" y="5455"/>
                  <a:pt x="4999" y="5455"/>
                </a:cubicBezTo>
                <a:cubicBezTo>
                  <a:pt x="5305" y="5455"/>
                  <a:pt x="5586" y="5394"/>
                  <a:pt x="5843" y="5273"/>
                </a:cubicBezTo>
                <a:cubicBezTo>
                  <a:pt x="6100" y="5151"/>
                  <a:pt x="6303" y="4986"/>
                  <a:pt x="6453" y="4777"/>
                </a:cubicBezTo>
                <a:cubicBezTo>
                  <a:pt x="6602" y="4568"/>
                  <a:pt x="6677" y="4339"/>
                  <a:pt x="6677" y="4091"/>
                </a:cubicBezTo>
                <a:lnTo>
                  <a:pt x="6677" y="2273"/>
                </a:lnTo>
                <a:cubicBezTo>
                  <a:pt x="6677" y="2024"/>
                  <a:pt x="6602" y="1795"/>
                  <a:pt x="6453" y="1586"/>
                </a:cubicBezTo>
                <a:cubicBezTo>
                  <a:pt x="6303" y="1377"/>
                  <a:pt x="6100" y="1212"/>
                  <a:pt x="5843" y="1091"/>
                </a:cubicBezTo>
                <a:cubicBezTo>
                  <a:pt x="5586" y="969"/>
                  <a:pt x="5305" y="909"/>
                  <a:pt x="4999" y="909"/>
                </a:cubicBezTo>
                <a:moveTo>
                  <a:pt x="4999" y="0"/>
                </a:moveTo>
                <a:cubicBezTo>
                  <a:pt x="5505" y="0"/>
                  <a:pt x="5973" y="101"/>
                  <a:pt x="6403" y="305"/>
                </a:cubicBezTo>
                <a:cubicBezTo>
                  <a:pt x="6831" y="507"/>
                  <a:pt x="7170" y="783"/>
                  <a:pt x="7420" y="1132"/>
                </a:cubicBezTo>
                <a:cubicBezTo>
                  <a:pt x="7670" y="1480"/>
                  <a:pt x="7795" y="1861"/>
                  <a:pt x="7795" y="2273"/>
                </a:cubicBezTo>
                <a:lnTo>
                  <a:pt x="7795" y="4091"/>
                </a:lnTo>
                <a:cubicBezTo>
                  <a:pt x="7795" y="4503"/>
                  <a:pt x="7670" y="4883"/>
                  <a:pt x="7420" y="5232"/>
                </a:cubicBezTo>
                <a:cubicBezTo>
                  <a:pt x="7170" y="5580"/>
                  <a:pt x="6831" y="5856"/>
                  <a:pt x="6403" y="6059"/>
                </a:cubicBezTo>
                <a:cubicBezTo>
                  <a:pt x="5973" y="6262"/>
                  <a:pt x="5505" y="6364"/>
                  <a:pt x="4999" y="6364"/>
                </a:cubicBezTo>
                <a:cubicBezTo>
                  <a:pt x="4492" y="6364"/>
                  <a:pt x="4024" y="6262"/>
                  <a:pt x="3595" y="6059"/>
                </a:cubicBezTo>
                <a:cubicBezTo>
                  <a:pt x="3166" y="5856"/>
                  <a:pt x="2827" y="5580"/>
                  <a:pt x="2578" y="5232"/>
                </a:cubicBezTo>
                <a:cubicBezTo>
                  <a:pt x="2328" y="4883"/>
                  <a:pt x="2203" y="4503"/>
                  <a:pt x="2203" y="4091"/>
                </a:cubicBezTo>
                <a:lnTo>
                  <a:pt x="2203" y="2273"/>
                </a:lnTo>
                <a:cubicBezTo>
                  <a:pt x="2203" y="1861"/>
                  <a:pt x="2328" y="1480"/>
                  <a:pt x="2578" y="1132"/>
                </a:cubicBezTo>
                <a:cubicBezTo>
                  <a:pt x="2827" y="783"/>
                  <a:pt x="3166" y="507"/>
                  <a:pt x="3595" y="305"/>
                </a:cubicBezTo>
                <a:cubicBezTo>
                  <a:pt x="4024" y="101"/>
                  <a:pt x="4492" y="0"/>
                  <a:pt x="4999" y="0"/>
                </a:cubicBezTo>
                <a:moveTo>
                  <a:pt x="0" y="4545"/>
                </a:moveTo>
                <a:lnTo>
                  <a:pt x="1130" y="4545"/>
                </a:lnTo>
                <a:cubicBezTo>
                  <a:pt x="1219" y="5054"/>
                  <a:pt x="1444" y="5516"/>
                  <a:pt x="1806" y="5932"/>
                </a:cubicBezTo>
                <a:cubicBezTo>
                  <a:pt x="2168" y="6347"/>
                  <a:pt x="2624" y="6673"/>
                  <a:pt x="3176" y="6909"/>
                </a:cubicBezTo>
                <a:cubicBezTo>
                  <a:pt x="3742" y="7151"/>
                  <a:pt x="4350" y="7273"/>
                  <a:pt x="4999" y="7273"/>
                </a:cubicBezTo>
                <a:cubicBezTo>
                  <a:pt x="5647" y="7273"/>
                  <a:pt x="6255" y="7151"/>
                  <a:pt x="6822" y="6909"/>
                </a:cubicBezTo>
                <a:cubicBezTo>
                  <a:pt x="7373" y="6673"/>
                  <a:pt x="7830" y="6347"/>
                  <a:pt x="8192" y="5932"/>
                </a:cubicBezTo>
                <a:cubicBezTo>
                  <a:pt x="8553" y="5516"/>
                  <a:pt x="8778" y="5054"/>
                  <a:pt x="8868" y="4545"/>
                </a:cubicBezTo>
                <a:lnTo>
                  <a:pt x="9998" y="4545"/>
                </a:lnTo>
                <a:cubicBezTo>
                  <a:pt x="9916" y="5169"/>
                  <a:pt x="9666" y="5748"/>
                  <a:pt x="9249" y="6282"/>
                </a:cubicBezTo>
                <a:cubicBezTo>
                  <a:pt x="8846" y="6797"/>
                  <a:pt x="8328" y="7218"/>
                  <a:pt x="7694" y="7545"/>
                </a:cubicBezTo>
                <a:cubicBezTo>
                  <a:pt x="7038" y="7885"/>
                  <a:pt x="6326" y="8088"/>
                  <a:pt x="5558" y="8155"/>
                </a:cubicBezTo>
                <a:lnTo>
                  <a:pt x="5558" y="10000"/>
                </a:lnTo>
                <a:lnTo>
                  <a:pt x="4440" y="10000"/>
                </a:lnTo>
                <a:lnTo>
                  <a:pt x="4440" y="8155"/>
                </a:lnTo>
                <a:cubicBezTo>
                  <a:pt x="3672" y="8088"/>
                  <a:pt x="2960" y="7885"/>
                  <a:pt x="2304" y="7545"/>
                </a:cubicBezTo>
                <a:cubicBezTo>
                  <a:pt x="1670" y="7218"/>
                  <a:pt x="1151" y="6797"/>
                  <a:pt x="749" y="6282"/>
                </a:cubicBezTo>
                <a:cubicBezTo>
                  <a:pt x="331" y="5748"/>
                  <a:pt x="82" y="5169"/>
                  <a:pt x="0" y="4545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813737" y="4618137"/>
            <a:ext cx="796627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音频录制机制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18970" y="4920555"/>
            <a:ext cx="5399325" cy="53905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触发后从HyperRAM环形缓冲提取前3秒预触发+后2秒实时追加至staging缓冲区（最大30秒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×16kHz×2字节=960KB），WAV格式写入SD卡（文件名cough_YYYYMMDD_HHMMSS.wav），</a:t>
            </a:r>
            <a:endParaRPr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录制期间新咳嗽自动延长截止时间。</a:t>
            </a: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170657" y="4406205"/>
            <a:ext cx="5561209" cy="199459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170657" y="4406205"/>
            <a:ext cx="5561209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408722" y="4596705"/>
            <a:ext cx="54070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统计引擎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332541" y="4877693"/>
            <a:ext cx="5399325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24小时分布计数（hourly[24]数组）、昼夜划分（22:00-06:00夜间）、爆发检测（60秒窗口内≥5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次），环境数据（温度/湿度）通过时间戳关联，封装为cough_event_t推入64条环形缓冲队列。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COMMUNICATION PROTOCOL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端边云协同：通信协议与数据上传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390650"/>
            <a:ext cx="1173186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端云通信采用分层安全设计：WiFi 6芯片CYW55500支持AP模式配网与STA模式运行；应用层基于HTTPS/TLS 1.2加密传输；数据序列化为JSON格式，通过"心跳+环境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+事件批量+统计摘要"四步上传策略实现10分钟周期的数据同步。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57086" y="2106811"/>
            <a:ext cx="11274781" cy="7810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57086" y="2106811"/>
            <a:ext cx="9522" cy="7810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676106" y="2297311"/>
            <a:ext cx="115128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 dirty="0" err="1">
                <a:ln/>
                <a:solidFill>
                  <a:srgbClr val="5B8CB8">
                    <a:alpha val="9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WiFi配网机制</a:t>
            </a:r>
            <a:r>
              <a:rPr lang="en-US" sz="1100" b="1" i="0" strike="noStrike" dirty="0">
                <a:ln/>
                <a:solidFill>
                  <a:srgbClr val="5B8CB8">
                    <a:alpha val="9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：</a:t>
            </a:r>
            <a:r>
              <a:rPr sz="1100" b="0" i="0" strike="noStrike" dirty="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</a:t>
            </a:r>
            <a:r>
              <a:rPr sz="1100" b="0" i="0" strike="noStrike" dirty="0" err="1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AP模式开启热点（IP</a:t>
            </a:r>
            <a:r>
              <a:rPr sz="1100" b="0" i="0" strike="noStrike" dirty="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: 192.168.169.1）内置轻量Web服务器提供WiFi扫描与CGI连接接口，手机浏览器完成配网，凭证加密存储至FlashDB；STA模式自动</a:t>
            </a:r>
            <a:endParaRPr lang="en-US" sz="1100" dirty="0"/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重连，支持断线重连与静默失败</a:t>
            </a:r>
            <a:r>
              <a:rPr sz="1100" b="0" i="0" strike="noStrike" dirty="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  <p:sp>
        <p:nvSpPr>
          <p:cNvPr id="9" name="AutoShape 9"/>
          <p:cNvSpPr/>
          <p:nvPr/>
        </p:nvSpPr>
        <p:spPr>
          <a:xfrm>
            <a:off x="457086" y="3040261"/>
            <a:ext cx="11274781" cy="7810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457086" y="3040261"/>
            <a:ext cx="9522" cy="7810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676106" y="3230761"/>
            <a:ext cx="115128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ln/>
                <a:solidFill>
                  <a:srgbClr val="5B8CB8">
                    <a:alpha val="9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HTTPS安全通信：</a:t>
            </a:r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mbedTLS v2.28.1实现TLS 1.2加密，CA证书验证服务器身份；HTTP POST请求统一通过JSON接口，设备认证通过JWT Token（HS256算法，7天有效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期）。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086" y="3973711"/>
            <a:ext cx="11274781" cy="7810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>
            <a:off x="457086" y="3973711"/>
            <a:ext cx="9522" cy="7810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76106" y="4164211"/>
            <a:ext cx="115128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ln/>
                <a:solidFill>
                  <a:srgbClr val="5B8CB8">
                    <a:alpha val="9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JSON数据格式：</a:t>
            </a:r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单事件包含timestamp/confidence/temperature_c/humidity_pct四字段；日统计摘要包含device_id/date/total/day/night/bursts/hourly[24]等；云端对同日多次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上传取max聚合去重。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7086" y="4907161"/>
            <a:ext cx="11274781" cy="552450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57086" y="4907161"/>
            <a:ext cx="9522" cy="552450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76106" y="5097661"/>
            <a:ext cx="1151284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ln/>
                <a:solidFill>
                  <a:srgbClr val="5B8CB8">
                    <a:alpha val="9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四步上传编排：</a:t>
            </a:r>
            <a:r>
              <a:rPr sz="11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每10分钟定时器触发→①心跳更新在线状态→②上传温湿度→③批量上传≤16条事件→④推送日统计摘要，失败静默不重试，事件保留队列等待下次。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端边云协同架构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云端接收与可视化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259086"/>
            <a:ext cx="1014724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FastAPI异步架构 + Vue.js响应式前端，实现设备管理、儿童档案、咳嗽事件存储与环境数据时间序列管理的完整云端平台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649611"/>
            <a:ext cx="6399200" cy="229939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57086" y="1649611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37286" y="1894150"/>
            <a:ext cx="178073" cy="178118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871766" y="1890265"/>
            <a:ext cx="5784544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后端服务架构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7061" y="2741563"/>
            <a:ext cx="5999250" cy="9525"/>
          </a:xfrm>
          <a:prstGeom prst="line">
            <a:avLst/>
          </a:prstGeom>
          <a:ln w="9525">
            <a:solidFill>
              <a:srgbClr val="C5CDD6">
                <a:alpha val="9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657061" y="2307283"/>
            <a:ext cx="6199224" cy="340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FastAPI路由层：</a:t>
            </a:r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8个API端点（/heartbeat/environment/cough-events/stats/ota等），自动Swagger文档生成，</a:t>
            </a:r>
            <a:endParaRPr lang="en-US" sz="1100"/>
          </a:p>
          <a:p>
            <a:pPr algn="l"/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Pydantic模型校验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7061" y="3139679"/>
            <a:ext cx="5999250" cy="9525"/>
          </a:xfrm>
          <a:prstGeom prst="line">
            <a:avLst/>
          </a:prstGeom>
          <a:ln w="9525">
            <a:solidFill>
              <a:srgbClr val="C5CDD6">
                <a:alpha val="9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657061" y="2903488"/>
            <a:ext cx="59992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业务服务层：</a:t>
            </a:r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report_service生成日/周/趋势报告，alert_service基于9条规则引擎生成观察提醒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57061" y="3301604"/>
            <a:ext cx="59992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数据持久层：</a:t>
            </a:r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SQLite 13张表，含cough_stats审计字段、设备在线状态实时追踪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086" y="4101405"/>
            <a:ext cx="6399200" cy="229939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57086" y="4101405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637286" y="4345945"/>
            <a:ext cx="178073" cy="178118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443" y="10000"/>
                </a:moveTo>
                <a:lnTo>
                  <a:pt x="6110" y="10000"/>
                </a:lnTo>
                <a:cubicBezTo>
                  <a:pt x="5954" y="10000"/>
                  <a:pt x="5823" y="9946"/>
                  <a:pt x="5716" y="9839"/>
                </a:cubicBezTo>
                <a:cubicBezTo>
                  <a:pt x="5608" y="9731"/>
                  <a:pt x="5554" y="9600"/>
                  <a:pt x="5554" y="9444"/>
                </a:cubicBezTo>
                <a:lnTo>
                  <a:pt x="5554" y="5000"/>
                </a:lnTo>
                <a:cubicBezTo>
                  <a:pt x="5554" y="4844"/>
                  <a:pt x="5608" y="4713"/>
                  <a:pt x="5716" y="4606"/>
                </a:cubicBezTo>
                <a:cubicBezTo>
                  <a:pt x="5823" y="4498"/>
                  <a:pt x="5954" y="4444"/>
                  <a:pt x="6110" y="4444"/>
                </a:cubicBezTo>
                <a:lnTo>
                  <a:pt x="9443" y="4444"/>
                </a:lnTo>
                <a:cubicBezTo>
                  <a:pt x="9598" y="4444"/>
                  <a:pt x="9729" y="4498"/>
                  <a:pt x="9837" y="4606"/>
                </a:cubicBezTo>
                <a:cubicBezTo>
                  <a:pt x="9944" y="4713"/>
                  <a:pt x="9998" y="4844"/>
                  <a:pt x="9998" y="5000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moveTo>
                  <a:pt x="3888" y="5556"/>
                </a:moveTo>
                <a:lnTo>
                  <a:pt x="555" y="5556"/>
                </a:lnTo>
                <a:cubicBezTo>
                  <a:pt x="399" y="5556"/>
                  <a:pt x="268" y="5502"/>
                  <a:pt x="161" y="5394"/>
                </a:cubicBezTo>
                <a:cubicBezTo>
                  <a:pt x="53" y="5286"/>
                  <a:pt x="0" y="5155"/>
                  <a:pt x="0" y="5000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3888" y="0"/>
                </a:lnTo>
                <a:cubicBezTo>
                  <a:pt x="4043" y="0"/>
                  <a:pt x="4174" y="53"/>
                  <a:pt x="4282" y="161"/>
                </a:cubicBezTo>
                <a:cubicBezTo>
                  <a:pt x="4390" y="268"/>
                  <a:pt x="4444" y="400"/>
                  <a:pt x="4444" y="556"/>
                </a:cubicBezTo>
                <a:lnTo>
                  <a:pt x="4444" y="5000"/>
                </a:lnTo>
                <a:cubicBezTo>
                  <a:pt x="4444" y="5155"/>
                  <a:pt x="4390" y="5286"/>
                  <a:pt x="4282" y="5394"/>
                </a:cubicBezTo>
                <a:cubicBezTo>
                  <a:pt x="4174" y="5502"/>
                  <a:pt x="4043" y="5556"/>
                  <a:pt x="3888" y="5556"/>
                </a:cubicBezTo>
                <a:moveTo>
                  <a:pt x="1111" y="4444"/>
                </a:moveTo>
                <a:lnTo>
                  <a:pt x="3333" y="4444"/>
                </a:lnTo>
                <a:lnTo>
                  <a:pt x="3333" y="1111"/>
                </a:lnTo>
                <a:lnTo>
                  <a:pt x="1111" y="1111"/>
                </a:lnTo>
                <a:lnTo>
                  <a:pt x="1111" y="4444"/>
                </a:lnTo>
                <a:moveTo>
                  <a:pt x="3888" y="10000"/>
                </a:move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7222"/>
                </a:lnTo>
                <a:cubicBezTo>
                  <a:pt x="0" y="7066"/>
                  <a:pt x="53" y="6935"/>
                  <a:pt x="161" y="6828"/>
                </a:cubicBezTo>
                <a:cubicBezTo>
                  <a:pt x="268" y="6720"/>
                  <a:pt x="399" y="6667"/>
                  <a:pt x="555" y="6667"/>
                </a:cubicBezTo>
                <a:lnTo>
                  <a:pt x="3888" y="6667"/>
                </a:lnTo>
                <a:cubicBezTo>
                  <a:pt x="4043" y="6667"/>
                  <a:pt x="4174" y="6720"/>
                  <a:pt x="4282" y="6828"/>
                </a:cubicBezTo>
                <a:cubicBezTo>
                  <a:pt x="4390" y="6935"/>
                  <a:pt x="4444" y="7066"/>
                  <a:pt x="4444" y="7222"/>
                </a:cubicBezTo>
                <a:lnTo>
                  <a:pt x="4444" y="9444"/>
                </a:lnTo>
                <a:cubicBezTo>
                  <a:pt x="4444" y="9600"/>
                  <a:pt x="4390" y="9731"/>
                  <a:pt x="4282" y="9839"/>
                </a:cubicBezTo>
                <a:cubicBezTo>
                  <a:pt x="4174" y="9946"/>
                  <a:pt x="4043" y="10000"/>
                  <a:pt x="3888" y="10000"/>
                </a:cubicBezTo>
                <a:moveTo>
                  <a:pt x="1111" y="7778"/>
                </a:moveTo>
                <a:lnTo>
                  <a:pt x="1111" y="8889"/>
                </a:lnTo>
                <a:lnTo>
                  <a:pt x="3333" y="8889"/>
                </a:lnTo>
                <a:lnTo>
                  <a:pt x="3333" y="7778"/>
                </a:lnTo>
                <a:lnTo>
                  <a:pt x="1111" y="7778"/>
                </a:lnTo>
                <a:moveTo>
                  <a:pt x="6665" y="5556"/>
                </a:moveTo>
                <a:lnTo>
                  <a:pt x="6665" y="8889"/>
                </a:lnTo>
                <a:lnTo>
                  <a:pt x="8887" y="8889"/>
                </a:lnTo>
                <a:lnTo>
                  <a:pt x="8887" y="5556"/>
                </a:lnTo>
                <a:lnTo>
                  <a:pt x="6665" y="5556"/>
                </a:lnTo>
                <a:moveTo>
                  <a:pt x="5554" y="2778"/>
                </a:moveTo>
                <a:lnTo>
                  <a:pt x="5554" y="556"/>
                </a:lnTo>
                <a:cubicBezTo>
                  <a:pt x="5554" y="400"/>
                  <a:pt x="5608" y="268"/>
                  <a:pt x="5716" y="161"/>
                </a:cubicBezTo>
                <a:cubicBezTo>
                  <a:pt x="5823" y="53"/>
                  <a:pt x="5954" y="0"/>
                  <a:pt x="6110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2778"/>
                </a:lnTo>
                <a:cubicBezTo>
                  <a:pt x="9998" y="2933"/>
                  <a:pt x="9944" y="3064"/>
                  <a:pt x="9837" y="3172"/>
                </a:cubicBezTo>
                <a:cubicBezTo>
                  <a:pt x="9729" y="3279"/>
                  <a:pt x="9598" y="3333"/>
                  <a:pt x="9443" y="3333"/>
                </a:cubicBezTo>
                <a:lnTo>
                  <a:pt x="6110" y="3333"/>
                </a:lnTo>
                <a:cubicBezTo>
                  <a:pt x="5954" y="3333"/>
                  <a:pt x="5823" y="3279"/>
                  <a:pt x="5716" y="3172"/>
                </a:cubicBezTo>
                <a:cubicBezTo>
                  <a:pt x="5608" y="3064"/>
                  <a:pt x="5554" y="2933"/>
                  <a:pt x="5554" y="2778"/>
                </a:cubicBezTo>
                <a:moveTo>
                  <a:pt x="8887" y="1111"/>
                </a:moveTo>
                <a:lnTo>
                  <a:pt x="6665" y="1111"/>
                </a:lnTo>
                <a:lnTo>
                  <a:pt x="6665" y="2222"/>
                </a:lnTo>
                <a:lnTo>
                  <a:pt x="8887" y="2222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871766" y="4342060"/>
            <a:ext cx="5784544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前端可视化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7061" y="4995267"/>
            <a:ext cx="5999250" cy="9525"/>
          </a:xfrm>
          <a:prstGeom prst="line">
            <a:avLst/>
          </a:prstGeom>
          <a:ln w="9525">
            <a:solidFill>
              <a:srgbClr val="C5CDD6">
                <a:alpha val="9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57061" y="4759077"/>
            <a:ext cx="59992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Dashboard：</a:t>
            </a:r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6张指标卡片 + 7天趋势折线图 + 24小时分布柱状图，实时数据刷新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7061" y="5393383"/>
            <a:ext cx="5999250" cy="9525"/>
          </a:xfrm>
          <a:prstGeom prst="line">
            <a:avLst/>
          </a:prstGeom>
          <a:ln w="9525">
            <a:solidFill>
              <a:srgbClr val="C5CDD6">
                <a:alpha val="9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657061" y="5157192"/>
            <a:ext cx="59992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趋势分析：</a:t>
            </a:r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今日/近7天/近30天范围切换，支持多儿童数据隔离对比分析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57061" y="5555308"/>
            <a:ext cx="59992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智能报告：</a:t>
            </a:r>
            <a:r>
              <a:rPr sz="900" b="0" i="0" strike="noStrike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日报/周报/AI智能分析三视图，Alerts分类展示异常提醒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61009" y="1649611"/>
            <a:ext cx="4570857" cy="4484489"/>
          </a:xfrm>
          <a:prstGeom prst="rect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7763017" y="6229350"/>
            <a:ext cx="3366841" cy="1714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云端Web界面 · 咳嗽统计与设备管理仪表盘</a:t>
            </a:r>
            <a:endParaRPr lang="en-US" sz="110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7CD9C92-95C1-34D9-2A6B-1BCA70914F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692" y="1483382"/>
            <a:ext cx="4972984" cy="261276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3EDDCEC-9633-A5D4-55B3-052A0FCE48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236" y="4190308"/>
            <a:ext cx="4898308" cy="2573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PERFORMANCE METRICS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1437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性能指标与测试验证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1344811"/>
            <a:ext cx="11274781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系统在准确率、延迟、功耗三个维度达成设计目标：咳嗽检测准确率≥90%（测试集验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证），边缘推理延迟&lt;100ms满足实时性需求，监听模式工作电流&lt;100mA支持长时间运</a:t>
            </a:r>
            <a:endParaRPr/>
          </a:p>
          <a:p>
            <a:pPr algn="l"/>
            <a:r>
              <a:rPr sz="1100" b="0" i="0" strike="noStrike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行，连续72小时稳定性测试验证系统可靠性。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57086" y="2225873"/>
            <a:ext cx="5446937" cy="29813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57086" y="2225873"/>
            <a:ext cx="544693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618970" y="2435423"/>
            <a:ext cx="512316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系统测试验证结果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18970" y="2749748"/>
          <a:ext cx="5105400" cy="230124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测试类型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测试方法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1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验证结果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功能测试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黑盒测试覆盖全部用户场景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咳嗽检测/录音/上传/UI/语音助手全部通过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性能测试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测试集500+样本，计时器测量延 迟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准确率≥90%，推理&lt;100ms，响应 &lt;500ms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稳定性测 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连续运行72小时压力测试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无异常崩溃，内存无泄漏，SD卡读写正常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兼容性测 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多品牌路由器WiFi环境测试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000" b="0" i="0" strike="noStrike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支持802.11b/g/n，AP/STA模式切换正常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6284928" y="1306711"/>
            <a:ext cx="5446937" cy="509408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6284928" y="1306711"/>
            <a:ext cx="544693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7409266" y="1525786"/>
            <a:ext cx="3198261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200" b="1" i="0" strike="noStrike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核心性能指标实测值</a:t>
            </a:r>
            <a:endParaRPr lang="en-US" sz="1100"/>
          </a:p>
        </p:txBody>
      </p:sp>
      <p:graphicFrame>
        <p:nvGraphicFramePr>
          <p:cNvPr id="13" name="Chart 13"/>
          <p:cNvGraphicFramePr>
            <a:graphicFrameLocks noGrp="1"/>
          </p:cNvGraphicFramePr>
          <p:nvPr/>
        </p:nvGraphicFramePr>
        <p:xfrm>
          <a:off x="6484903" y="1868686"/>
          <a:ext cx="5046988" cy="4098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44344" y="6043612"/>
            <a:ext cx="3728105" cy="15716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800" b="0" i="0" strike="noStrike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实测性能全面优于设计目标，准确率与延迟表现突出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2093</Words>
  <Application>Microsoft Office PowerPoint</Application>
  <PresentationFormat>宽屏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FZYaYiHei GB18030L2 R</vt:lpstr>
      <vt:lpstr>Calibri</vt:lpstr>
      <vt:lpstr>Alibaba PuHuiTi 3.0 55 Regular</vt:lpstr>
      <vt:lpstr>"FZYaYiHei GB18030L2 R", sans-serif</vt:lpstr>
      <vt:lpstr>Arial</vt:lpstr>
      <vt:lpstr>"Alibaba PuHuiTi 3.0 55 Regular", sans-serif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宇程 杨</cp:lastModifiedBy>
  <cp:revision>12</cp:revision>
  <dcterms:created xsi:type="dcterms:W3CDTF">2006-08-16T00:00:00Z</dcterms:created>
  <dcterms:modified xsi:type="dcterms:W3CDTF">2026-07-04T05:29:50Z</dcterms:modified>
</cp:coreProperties>
</file>